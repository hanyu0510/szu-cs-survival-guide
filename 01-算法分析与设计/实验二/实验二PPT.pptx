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7" r:id="rId4"/>
  </p:sldMasterIdLst>
  <p:notesMasterIdLst>
    <p:notesMasterId r:id="rId14"/>
  </p:notesMasterIdLst>
  <p:handoutMasterIdLst>
    <p:handoutMasterId r:id="rId15"/>
  </p:handoutMasterIdLst>
  <p:sldIdLst>
    <p:sldId id="325" r:id="rId5"/>
    <p:sldId id="342" r:id="rId6"/>
    <p:sldId id="343" r:id="rId7"/>
    <p:sldId id="347" r:id="rId8"/>
    <p:sldId id="341" r:id="rId9"/>
    <p:sldId id="344" r:id="rId10"/>
    <p:sldId id="345" r:id="rId11"/>
    <p:sldId id="348" r:id="rId12"/>
    <p:sldId id="346" r:id="rId13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3FF"/>
    <a:srgbClr val="FF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5394" autoAdjust="0"/>
  </p:normalViewPr>
  <p:slideViewPr>
    <p:cSldViewPr snapToGrid="0">
      <p:cViewPr>
        <p:scale>
          <a:sx n="66" d="100"/>
          <a:sy n="66" d="100"/>
        </p:scale>
        <p:origin x="621" y="72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82" d="100"/>
          <a:sy n="82" d="100"/>
        </p:scale>
        <p:origin x="394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F7AE3A0C-90E8-45B9-A944-5081622638CC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2026/4/23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4C0A24AC-02A6-46A1-A072-EAC8AC25DCA5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0.659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480 13 24575,'0'-4'0,"0"0"0,-4-1 0,-8 16 0,-9 9 0,-9 5 0,-2 6 0,-7 1 0,-1-2 0,0 6 0,-4 3 0,1-1 0,1 1 0,4 0 0,4-3 0,9-3 0,4-1 0,7-5-8191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2.147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856 1 24575,'0'5'0,"-1"0"0,0-1 0,-1 1 0,1 0 0,-1-1 0,0 1 0,0-1 0,-5 8 0,-1 2 0,-29 58 0,-65 95 0,-64 53 0,108-148 0,-56 94 0,67-78 0,-13 23 0,25-62 0,-70 75 0,92-109 0,1 1 0,1 0 0,0 1 0,1 0 0,-14 36 0,11-26-1365,1-4-5461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3.39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1376 0 24575,'-9'8'0,"-1"0"0,2 0 0,-1 1 0,1 0 0,0 0 0,1 1 0,-12 20 0,-16 21 0,-90 95 0,-40 52 0,-65 124 0,164-231 0,-69 102 0,82-98 0,34-58 0,-26 38 0,4-13 0,18-26 0,-36 44 0,-101 116 134,35-41-1633,109-136-5327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4.775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1631 0 24575,'0'0'0,"0"0"0,0 0 0,0 0 0,1 0 0,-1 0 0,0 0 0,0 0 0,1 1 0,-1-1 0,0 0 0,0 0 0,1 0 0,-1 0 0,0 0 0,0 0 0,1 0 0,-1 0 0,0 1 0,0-1 0,0 0 0,0 0 0,1 0 0,-1 0 0,0 1 0,0-1 0,0 0 0,0 0 0,0 1 0,1-1 0,-1 0 0,0 0 0,0 0 0,0 1 0,0-1 0,-2 11 0,-9 10 0,-9 7 0,-36 38 0,18-24 0,-187 254 0,-39 61 0,203-287 0,-101 152 0,35-25 0,27-61 0,13-21 0,42-48 0,-57 118 0,80-141 0,-2-1 0,-34 45 0,-26 50 0,-7 12 0,61-109-1365,3-8-5461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6.31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2509 0 24575,'-14'8'0,"1"0"0,0 0 0,0 2 0,-14 13 0,-42 48 0,49-49 0,-330 402 0,301-361 0,-322 454-1178,300-414 1294,-392 500-341,406-531 232,19-21 451,-37 67 0,18-25-94,5-15-364,-170 287 0,127-188 0,71-133 0,0 7 0,16-32 0,-19 32 0,2-12 0,0-3 0,2 2 0,1 0 0,-20 53 0,40-86 0,-70 173 0,47-128 0,0-1 0,-31 89 0,53-130-273,0 0 0,0 0 0,0-1 0,-9 13 0,-3 1-6553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0:58.72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2637 1 24575,'-12'21'0,"0"0"0,-2-1 0,-21 25 0,5-8 0,-32 47 0,-91 158 0,70-78 0,27-51 0,-82 123 0,106-189 0,-92 139 0,40-61 0,-12 20 0,49-73 0,-62 75 0,50-72 0,-4 5 0,20-27 0,-55 87 0,12-5 0,68-111 0,-2 0 0,0-2 0,-28 24 0,-220 207 0,2-26 0,200-175 0,43-32 0,0 1 0,-26 31 0,-33 52 0,80-101 0,-23 33 0,-32 63 0,-13 20 0,43-78 0,2 1 0,-28 65 0,44-89-682,-21 32-1,11-23-6143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00.273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2504 1 24575,'-34'35'0,"-49"70"0,64-80 0,-230 345 0,-24 32 0,209-320 0,-175 222 0,-18-18 0,218-248 0,-117 125 0,129-132 0,2 2 0,1 0 0,-28 55 0,38-61 0,2-2 0,-2 0 0,-18 25 0,-32 37 0,-73 130 0,86-125 0,-56 109 0,87-160 0,-46 68 0,7-13 0,-83 177 0,128-242 0,-4 8 0,-43 72 0,46-88-119,-5 7-297,-1 0 1,-46 50 0,39-53-6411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03.014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2865 9 24575,'-4'-1'0,"0"-1"0,-1 1 0,1 0 0,0 0 0,-1 0 0,1 0 0,-1 1 0,1 0 0,0 0 0,-1 0 0,1 1 0,-1-1 0,1 1 0,-1 0 0,1 0 0,0 1 0,0-1 0,0 1 0,0 0 0,0 0 0,0 0 0,-6 5 0,-1 1 0,0 1 0,1 0 0,0 1 0,0 0 0,-16 22 0,2 1 0,-29 40 0,-49 90 0,79-123 0,-1-1 0,-45 54 0,45-63 0,1 1 0,-32 60 0,-16 33 0,46-78 0,-99 199 0,57-114 0,19-40 0,24-48 0,-30 42 0,-21 37 0,25-14 0,-1 4 0,39-89 0,-1-2 0,-30 39 0,29-43 0,-52 69 0,3-3 0,-82 84 0,55-65 0,18-25 0,-9 11 0,-5 5 0,70-78 0,-1-1 0,-1-1 0,-31 19 0,34-24 0,0 1 0,0 0 0,1 1 0,1 1 0,0 0 0,-20 23 0,15-14 0,0 0 0,-1-1 0,-23 16 0,1-1 0,1 2 0,-52 60 0,72-75 0,-2-1 0,-1-1 0,-35 23 0,-33 28 0,15-3 0,-75 71 0,133-119-453,-26 39 0,40-53-6,-12 18-6367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07.158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2698 1 24575,'-1'13'0,"-1"0"0,0 0 0,-1-1 0,0 1 0,-1-1 0,-8 19 0,8-20 0,-13 30 0,-3 0 0,-35 57 0,-62 74 0,82-123 0,-102 155 0,-35 49 0,124-193 0,-67 63 0,0 1 0,77-80 0,12-15 0,2 0 0,-25 40 0,-6 20 0,-38 63 0,-17 14 0,-4 5 0,63-85 0,-3-2 0,-5-3 0,-107 117 0,97-126 0,-140 160 0,-79 158 0,96-108 0,147-210 0,-39 66 0,78-129 0,0 1 0,1-1 0,1 1 0,-1-1 0,-5 21 0,9-23 0,-1-1 0,0 0 0,0 1 0,0-1 0,-1 0 0,0 0 0,-7 10 0,10-16 2,-1 1-1,1 0 1,-1-1 0,1 1-1,-1-1 1,1 1-1,-1-1 1,0 1-1,1-1 1,-1 1-1,0-1 1,1 0 0,-1 1-1,0-1 1,1 0-1,-1 1 1,0-1-1,0 0 1,0 0 0,1 0-1,-1 0 1,0 0-1,0 0 1,1 0-1,-1 0 1,0 0 0,-1 0-1,1-1-102,0 0 1,-1 1-1,1-1 0,0 0 1,0 0-1,0 0 1,0 0-1,0-1 0,0 1 1,0 0-1,0 0 0,0 0 1,0-2-1,-13-27-6725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09.36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2625 1 24575,'-1'5'0,"0"1"0,0 0 0,0 0 0,-1-1 0,0 1 0,0-1 0,-3 7 0,-2 5 0,-10 28 0,-2-1 0,-2 0 0,-26 39 0,-47 53 0,-38 64 0,82-118 0,-3-2 0,-126 145 0,152-196 0,-14 14 0,-47 66 0,44-42 0,8-13 0,-62 74 0,-205 206 0,109-98 0,-37 53 0,115-148 0,38-42 0,74-94 0,-213 235 0,184-208 0,2 2 0,1 0 0,-29 45 0,37-49 0,-34 35 0,31-37 0,-27 39 0,-92 122 0,139-184-102,2 0-24,0-1-1,-1-1 1,1 1 0,-1 0-1,0-1 1,0 0 0,0 0 0,-1 0-1,-4 2 1,-5-2-6700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10.90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2448 1 24575,'-33'24'0,"1"2"0,-37 41 0,2-4 0,-260 247 0,248-233 0,37-41 0,-1-1 0,-72 42 0,-8 8 0,86-54 0,1 1 0,-38 47 0,-37 34 0,-137 139 0,-66 82 0,202-218 0,80-79 0,-46 66 0,-8 14 0,15-8 0,57-90 0,-1 0 0,0-1 0,-28 25 0,27-28 0,0 0 0,2 1 0,-1 1 0,-18 31 0,15-14 0,-12 21 0,26-49 0,0 0 0,0-1 0,0 0 0,-1 0 0,1 0 0,-9 7 0,12-11-38,0-1 0,0 1 0,0 0 1,0-1-1,0 1 0,0-1 0,0 1 0,0-1 0,0 1 0,0-1 0,0 0 0,0 0 0,-1 1 0,1-1 0,0 0 0,0 0 1,0 0-1,0 0 0,-1 0 0,1 0 0,0-1 0,0 1 0,0 0 0,0-1 0,0 1 0,0 0 0,0-1 0,0 1 0,0-1 1,0 0-1,0 1 0,0-1 0,0 0 0,0 0 0,-1 0 0,-10-16-6788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12.960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1578 0 24575,'0'2'0,"-1"0"0,1 0 0,-1 0 0,0 0 0,1 0 0,-1 0 0,0 0 0,0 0 0,0 0 0,-1-1 0,1 1 0,0 0 0,-1-1 0,1 1 0,-3 1 0,-3 5 0,-40 47 0,-138 148 0,-274 230 0,409-382 0,33-32 0,-1 0 0,-1-2 0,-1 0 0,-27 18 0,24-19 0,2 0 0,0 2 0,1 0 0,-22 27 0,-3 1 0,-54 45 0,-26 26 0,99-92 0,-34 25 0,-24 23 0,-21 42-1365,85-89-5461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3:01:14.022"/>
    </inkml:context>
    <inkml:brush xml:id="br0">
      <inkml:brushProperty name="width" value="0.035" units="cm"/>
      <inkml:brushProperty name="height" value="0.035" units="cm"/>
      <inkml:brushProperty name="color" value="#849398"/>
    </inkml:brush>
  </inkml:definitions>
  <inkml:trace contextRef="#ctx0" brushRef="#br0">839 0 24575,'-70'79'0,"10"-11"0,11-17 0,-140 156 0,135-135 0,-35 41 0,74-95 0,-2-1 0,0-1 0,-1-1 0,-20 14 0,-2-4 0,18-12 0,-37 29 0,53-37 0,1 1 0,-1-1 0,1 1 0,0 0 0,0 0 0,1 1 0,0-1 0,0 1 0,1 0 0,-5 10 0,-4 23 2,-13 34-1369,15-52-5459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00.1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45.51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1071 1 24575,'-9'3'0,"0"1"0,1 0 0,0 0 0,-1 1 0,-10 9 0,-35 32 0,40-33 0,-168 161 0,-42 38 0,170-161 0,-55 67 0,102-110 0,-57 77 0,41-52 0,-30 31 0,35-44 0,-29 30 0,2 1 0,-50 76 0,93-124-97,0 1-1,-1-1 1,1 0-1,1 1 1,-1 0-1,0-1 1,1 1-1,0 0 1,0 0-1,0 0 1,0 0-1,1 0 0,-1 4 1,6 10-6729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46.38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2339 0 24575,'-10'1'0,"0"-1"0,1 2 0,-1-1 0,1 1 0,-1 1 0,-16 6 0,-1 3 0,-25 16 0,-61 41 0,-28 15 0,-78 42-483,6 9 1,-347 288-1,449-329 492,-203 180 69,213-183-57,75-70-22,0-2-1,-32 18 1,38-26 42,0 0 169,0 0 0,1 1 0,0 1 0,1 1 0,-28 27 0,-50 69-167,90-103-147,3-4-1,0 0 0,0 0 0,1 0-1,-1 0 1,1 1 0,-1-1 0,1 1 0,0 0 0,1 0 0,-1-1 0,-1 8 0,4 6-6721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47.486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3071 1 24575,'-7'0'0,"0"1"0,0 0 0,0 0 0,0 1 0,0 0 0,0 0 0,-11 5 0,-45 29 0,3 3 6,-60 53 1,-50 56-250,64-54-351,-229 206 389,-67 57 245,20-7-40,104-79 0,74-58 0,-29 27 0,126-149 259,-103 95 471,75-32-730,49-58 103,54-63-837,-32 43 0,48-53-6092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49.252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3510 0 24575,'0'4'0,"-1"0"0,0 0 0,0 0 0,0 0 0,0 0 0,-1 0 0,0-1 0,1 1 0,-1 0 0,-1-1 0,1 0 0,-5 6 0,-3 5 0,-257 323-1008,-30-18-249,225-244 747,-503 495 233,322-325 269,-92 76-37,113-107-93,-95 85 50,52-49 1082,192-178-488,-27 27 1289,-3 17-1759,-138 131-36,211-209 0,2 1 0,2 2 0,1 1 0,-50 82 0,52-67 0,32-56 0,-6 17 0,7-17 0,0-1 0,0 1 0,0-1 0,0 1 0,0-1 0,0 1 0,0-1 0,1 0 0,-1 1 0,0-1 0,0 1 0,0-1 0,1 0 0,-1 1 0,0-1 0,1 1 0,-1-1 0,0 0 0,1 1 0,-1-1 0,0 0 0,1 0 0,-1 1 0,0-1 0,1 0 0,-1 0 0,1 0 0,-1 1 0,1-1 0,-1 0 0,0 0 0,1 0 0,-1 0 0,1 0 0,-1 0 0,1 0 0,-1 0 0,1 0 0,-1 0 0,1 0 0,0 0 0,32-5-1365,8-6-5461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1.075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3431 1 24575,'-12'0'0,"0"1"0,0 1 0,0 0 0,0 1 0,1 0 0,-1 0 0,-16 9 0,-75 45 0,74-40 0,-299 217 0,299-211 0,-367 307-817,201-164 519,-150 141 258,139-121 40,52-68 15,-127 102 51,20 22-24,131-97-32,-198 293 0,126-126 91,175-273-57,-3-1 0,-51 52 0,58-63 201,0 2-1,-31 52 1,36-52-200,6-12-160,-30 54 364,38-63-463,0 0 0,1 1 0,0-1-1,1 1 1,-1 0 0,-1 15 0,4 4-6612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2.921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3653 0 24575,'-13'0'0,"1"1"0,-1-1 0,1 2 0,0 0 0,0 0 0,-1 1 0,2 1 0,-1 0 0,0 0 0,-17 10 0,-16 14 0,0 2 0,2 2 0,1 2 0,2 1 0,-45 50 0,4 9 0,-78 121 0,117-155 0,-184 250 0,85-137-111,-77 96-666,-42 68 777,-55 138-275,222-325 230,72-115 36,-97 139 164,-81 78 907,154-200-1062,-88 78 0,23-25 0,-96 108 0,188-197 0,-1-1 0,-29 19 0,-20 16 0,-171 140 0,150-115 0,67-54 0,0-2 0,-2 0 0,-35 21 0,32-25 0,-13 7 0,1 1 0,-42 34 0,54-36 0,27-21 3,-1 1 0,1-1-1,-1 0 1,1 1-1,-1-1 1,1 1 0,-1-1-1,1 0 1,-1 1 0,0-1-1,1 0 1,-1 1-1,0-1 1,1 0 0,-1 0-1,0 0 1,1 0 0,-1 0-1,-1 0 1,8-13-1421,10-12-5408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4.49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3703 0 24575,'-14'26'0,"-1"-1"0,-26 33 0,13-21 0,-104 139-1481,-214 219 0,342-392 1485,-248 257-49,15 12 604,-95 95-464,276-308-86,-125 120-9,16-17 0,12 0-1100,-58 57-965,-14-12 3953,153-149-1204,-111 99 2249,139-111-2933,-36 33 0,-39 22 0,-72 65 0,-57 52 0,237-209 0,-40 35 0,-71 46 0,83-63 0,1 2 0,-38 38 0,50-43 0,15-16-1365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6.24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2835 1 24575,'-117'83'0,"40"-27"0,-385 287-549,446-331 547,-55 46 2,2 3 0,3 2 0,-72 90 0,25-26 256,-11 12 39,92-101-295,-1-1 0,-64 54 0,64-62 0,1 1 0,1 2 0,2 1 0,-37 54 0,-8 17 0,-38 58 0,-44 52 0,78-110 0,43-55 0,-43 46 0,66-81 0,-34 36 0,-2-2 0,-74 57 0,43-39 0,53-43 0,-50 36 0,33-32 0,-50 23 0,81-45 0,1 0 0,0 1 0,0 0 0,1 1 0,0 0 0,0 1 0,0 0 0,1 0 0,0 1 0,-13 18 0,20-24 0,-2 1 0,1 1 0,0 0 0,0-1 0,0 1 0,1 0 0,-4 9 0,7-11 0,6-4 0,25-14-1365,10-8-5461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7.30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1993 1 24575,'-2'0'0,"1"0"0,0 0 0,-1 1 0,1-1 0,0 0 0,-1 1 0,1-1 0,0 1 0,0 0 0,0-1 0,0 1 0,-1 0 0,0 1 0,-6 4 0,-77 47 0,14-7 230,-631 437-2677,241-142 2277,356-258 153,-99 102 0,159-143 242,-35 36 927,64-61-848,2 1-1,-25 38 1,-31 91-161,8-16-153,60-129 10,1 1 0,-1 0 0,1 0 0,0 0 0,-1 0 0,1 1 0,0 3 0,1-7 0,0 1 0,0-1 0,0 0 0,0 1 0,0-1 0,0 0 0,0 1 0,0-1 0,0 0 0,0 1 0,0-1 0,0 0 0,1 1 0,-1-1 0,0 0 0,0 0 0,0 1 0,1-1 0,-1 0 0,0 1 0,0-1 0,1 0 0,-1 0 0,0 0 0,0 1 0,1-1 0,-1 0 0,1 0 0,0 1 0,0-1 0,1 0 0,-1 0 0,1 0 0,-1 0 0,1 0 0,-1 0 0,0 0 0,1 0 0,2-1 0,5-2-455,0 0 0,15-8 0,24-14-6371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4T02:23:58.467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1286 0 24575,'-5'3'0,"0"1"0,0 0 0,1 0 0,-1 0 0,1 0 0,0 1 0,0 0 0,0 0 0,-4 7 0,-4 5 0,8-12 0,-69 93 0,-93 94 0,-63 23 0,16-16 0,43-41 0,76-73 0,-88 103 0,113-109-1365,44-52-5461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2273FAD-02EE-488A-9164-5C2A04B35867}" type="datetime1">
              <a:rPr lang="en-US" altLang="zh-CN" smtClean="0"/>
              <a:pPr/>
              <a:t>4/23/2026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DC92804-03A6-47F6-A893-4DDB8903A808}" type="slidenum">
              <a:rPr lang="en-US" altLang="zh-CN" noProof="0" smtClean="0"/>
              <a:pPr/>
              <a:t>‹#›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0DC92804-03A6-47F6-A893-4DDB8903A808}" type="slidenum">
              <a:rPr lang="zh-CN" smtClean="0"/>
              <a:t>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长方形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</a:lstStyle>
            <a:p>
              <a:pPr algn="ctr" rtl="0"/>
              <a:endParaRPr lang="zh-CN" dirty="0"/>
            </a:p>
          </p:txBody>
        </p:sp>
        <p:pic>
          <p:nvPicPr>
            <p:cNvPr id="25" name="图形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直接连接符​​(S)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​​(S)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​​(S)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​​(S)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​​(S)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​​(S)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​​(S)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 rtlCol="0">
            <a:noAutofit/>
          </a:bodyPr>
          <a:lstStyle>
            <a:lvl1pPr algn="ctr">
              <a:defRPr lang="zh-CN" sz="72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7583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rtlCol="0" anchor="ctr" anchorCtr="0">
            <a:normAutofit/>
          </a:bodyPr>
          <a:lstStyle>
            <a:lvl1pPr>
              <a:defRPr lang="zh-CN" sz="4400"/>
            </a:lvl1pPr>
          </a:lstStyle>
          <a:p>
            <a:pPr algn="l" rtl="0">
              <a:lnSpc>
                <a:spcPts val="5800"/>
              </a:lnSpc>
            </a:pPr>
            <a:r>
              <a:rPr lang="zh-CN" sz="4800" dirty="0"/>
              <a:t>单击此处添加标题 </a:t>
            </a:r>
          </a:p>
        </p:txBody>
      </p:sp>
      <p:sp>
        <p:nvSpPr>
          <p:cNvPr id="2" name="图片占位符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2638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长方形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标题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 rtlCol="0">
            <a:normAutofit/>
          </a:bodyPr>
          <a:lstStyle>
            <a:lvl1pPr>
              <a:defRPr lang="zh-CN" sz="44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 lang="zh-CN" sz="1800" baseline="0"/>
            </a:lvl1pPr>
            <a:lvl2pPr>
              <a:defRPr lang="zh-CN" sz="1800"/>
            </a:lvl2pPr>
            <a:lvl3pPr>
              <a:defRPr lang="zh-CN" sz="1800"/>
            </a:lvl3pPr>
            <a:lvl4pPr>
              <a:defRPr lang="zh-CN" sz="1800"/>
            </a:lvl4pPr>
            <a:lvl5pPr>
              <a:defRPr lang="zh-CN" sz="18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  <a:endParaRPr lang="zh-CN" sz="1800" dirty="0">
              <a:solidFill>
                <a:schemeClr val="tx1"/>
              </a:solidFill>
            </a:endParaRPr>
          </a:p>
        </p:txBody>
      </p:sp>
      <p:cxnSp>
        <p:nvCxnSpPr>
          <p:cNvPr id="14" name="直接连接符​​(S)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​​(S)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幻灯片编号占位符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  <p:cxnSp>
        <p:nvCxnSpPr>
          <p:cNvPr id="3" name="直接连接符​​(S)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​​(S)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27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符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rtlCol="0" anchor="b" anchorCtr="0">
            <a:normAutofit/>
          </a:bodyPr>
          <a:lstStyle>
            <a:lvl1pPr>
              <a:defRPr lang="zh-CN" sz="4400"/>
            </a:lvl1pPr>
          </a:lstStyle>
          <a:p>
            <a:pPr algn="l" rtl="0">
              <a:lnSpc>
                <a:spcPts val="5800"/>
              </a:lnSpc>
            </a:pPr>
            <a:r>
              <a:rPr lang="zh-CN" sz="4800" dirty="0"/>
              <a:t>单击此处添加标题 </a:t>
            </a:r>
          </a:p>
        </p:txBody>
      </p:sp>
      <p:sp>
        <p:nvSpPr>
          <p:cNvPr id="4" name="文本占位符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 rtlCol="0"/>
          <a:lstStyle>
            <a:lvl1pPr marL="0" indent="0">
              <a:buNone/>
              <a:defRPr lang="zh-CN"/>
            </a:lvl1pPr>
          </a:lstStyle>
          <a:p>
            <a:pPr lvl="0" rtl="0"/>
            <a:r>
              <a:rPr lang="zh-CN" dirty="0"/>
              <a:t>单击此处添加副标题</a:t>
            </a:r>
          </a:p>
        </p:txBody>
      </p:sp>
      <p:sp>
        <p:nvSpPr>
          <p:cNvPr id="2" name="图片占位符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zh-CN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 UI"/>
              <a:ea typeface="Helvetica Neue Medium"/>
              <a:cs typeface="Microsoft YaHei UI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48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zh-CN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 UI"/>
              <a:ea typeface="Helvetica Neue Medium"/>
              <a:cs typeface="Microsoft YaHei UI"/>
              <a:sym typeface="Helvetica Neue Medium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 rtlCol="0">
            <a:normAutofit/>
          </a:bodyPr>
          <a:lstStyle>
            <a:lvl1pPr>
              <a:defRPr lang="zh-CN" sz="44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>
              <a:spcBef>
                <a:spcPts val="1000"/>
              </a:spcBef>
              <a:defRPr lang="zh-CN" sz="1800"/>
            </a:lvl2pPr>
            <a:lvl3pPr marL="685800">
              <a:spcBef>
                <a:spcPts val="1000"/>
              </a:spcBef>
              <a:defRPr lang="zh-CN" sz="1800"/>
            </a:lvl3pPr>
            <a:lvl4pPr marL="1143000">
              <a:spcBef>
                <a:spcPts val="1000"/>
              </a:spcBef>
              <a:defRPr lang="zh-CN" sz="1800"/>
            </a:lvl4pPr>
            <a:lvl5pPr marL="1600200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20XX</a:t>
            </a: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示例页脚文本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3" name="内容占位符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28600">
              <a:spcBef>
                <a:spcPts val="1000"/>
              </a:spcBef>
              <a:defRPr lang="zh-CN" sz="1800"/>
            </a:lvl2pPr>
            <a:lvl3pPr marL="685800">
              <a:spcBef>
                <a:spcPts val="1000"/>
              </a:spcBef>
              <a:defRPr lang="zh-CN" sz="1800"/>
            </a:lvl3pPr>
            <a:lvl4pPr marL="1143000">
              <a:spcBef>
                <a:spcPts val="1000"/>
              </a:spcBef>
              <a:defRPr lang="zh-CN" sz="1800"/>
            </a:lvl4pPr>
            <a:lvl5pPr marL="1600200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1007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rtlCol="0"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lang="zh-CN" sz="4400" b="0" i="0"/>
            </a:lvl1pPr>
          </a:lstStyle>
          <a:p>
            <a:pPr rtl="0"/>
            <a:r>
              <a:rPr lang="zh-CN" sz="4400" dirty="0"/>
              <a:t>单击此处添加标题 </a:t>
            </a:r>
            <a:endParaRPr lang="zh-CN" dirty="0"/>
          </a:p>
        </p:txBody>
      </p:sp>
      <p:sp>
        <p:nvSpPr>
          <p:cNvPr id="14" name="长方形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zh-CN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 UI"/>
              <a:ea typeface="Helvetica Neue Medium"/>
              <a:cs typeface="Microsoft YaHei UI"/>
              <a:sym typeface="Helvetica Neue Medium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 rtlCol="0">
            <a:normAutofit/>
          </a:bodyPr>
          <a:lstStyle>
            <a:lvl1pPr>
              <a:defRPr lang="zh-CN" sz="1800"/>
            </a:lvl1pPr>
            <a:lvl2pPr>
              <a:defRPr lang="zh-CN" sz="1800"/>
            </a:lvl2pPr>
            <a:lvl3pPr>
              <a:defRPr lang="zh-CN" sz="1800"/>
            </a:lvl3pPr>
            <a:lvl4pPr>
              <a:defRPr lang="zh-CN" sz="1800"/>
            </a:lvl4pPr>
            <a:lvl5pPr>
              <a:defRPr lang="zh-CN" sz="18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表格占位符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 rtlCol="0"/>
          <a:lstStyle>
            <a:lvl1pPr>
              <a:defRPr lang="zh-CN"/>
            </a:lvl1pPr>
          </a:lstStyle>
          <a:p>
            <a:pPr rtl="0"/>
            <a:r>
              <a:rPr lang="zh-CN" altLang="en-US"/>
              <a:t>单击图标添加表格</a:t>
            </a:r>
            <a:endParaRPr lang="zh-CN" dirty="0"/>
          </a:p>
        </p:txBody>
      </p:sp>
      <p:sp>
        <p:nvSpPr>
          <p:cNvPr id="7" name="幻灯片编号占位符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82717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 rtlCol="0">
            <a:normAutofit/>
          </a:bodyPr>
          <a:lstStyle>
            <a:lvl1pPr>
              <a:defRPr lang="zh-CN" sz="4400"/>
            </a:lvl1pPr>
          </a:lstStyle>
          <a:p>
            <a:pPr rtl="0"/>
            <a:r>
              <a:rPr lang="zh-CN" sz="4400" dirty="0"/>
              <a:t>单击此处添加标题 </a:t>
            </a:r>
            <a:endParaRPr 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 rtlCol="0">
            <a:normAutofit/>
          </a:bodyPr>
          <a:lstStyle>
            <a:lvl1pPr>
              <a:defRPr lang="zh-CN" sz="1800"/>
            </a:lvl1pPr>
            <a:lvl2pPr>
              <a:defRPr lang="zh-CN" sz="1800"/>
            </a:lvl2pPr>
            <a:lvl3pPr>
              <a:defRPr lang="zh-CN" sz="1400"/>
            </a:lvl3pPr>
            <a:lvl4pPr>
              <a:defRPr lang="zh-CN" sz="1200"/>
            </a:lvl4pPr>
            <a:lvl5pPr>
              <a:defRPr lang="zh-CN" sz="11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 rtlCol="0">
            <a:normAutofit/>
          </a:bodyPr>
          <a:lstStyle>
            <a:lvl1pPr marL="0" indent="0">
              <a:buNone/>
              <a:defRPr lang="zh-CN" sz="1800"/>
            </a:lvl1pPr>
            <a:lvl2pPr>
              <a:defRPr lang="zh-CN" sz="1800"/>
            </a:lvl2pPr>
            <a:lvl3pPr>
              <a:defRPr lang="zh-CN" sz="1400"/>
            </a:lvl3pPr>
            <a:lvl4pPr>
              <a:defRPr lang="zh-CN" sz="1200"/>
            </a:lvl4pPr>
            <a:lvl5pPr>
              <a:defRPr lang="zh-CN" sz="11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zh-CN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Microsoft YaHei UI"/>
              <a:ea typeface="Helvetica Neue Medium"/>
              <a:cs typeface="Microsoft YaHei UI"/>
              <a:sym typeface="Helvetica Neue Medium"/>
            </a:endParaRPr>
          </a:p>
        </p:txBody>
      </p:sp>
      <p:sp>
        <p:nvSpPr>
          <p:cNvPr id="10" name="幻灯片编号占位符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9876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lang="zh-CN" sz="44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20XX</a:t>
            </a:r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dirty="0"/>
              <a:t>示例页脚文本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5" name="表格占位符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 rtlCol="0"/>
          <a:lstStyle>
            <a:lvl1pPr>
              <a:defRPr lang="zh-CN"/>
            </a:lvl1pPr>
          </a:lstStyle>
          <a:p>
            <a:pPr rtl="0"/>
            <a:r>
              <a:rPr lang="zh-CN" altLang="en-US"/>
              <a:t>单击图标添加表格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40937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cxnSp>
        <p:nvCxnSpPr>
          <p:cNvPr id="11" name="直接连接符​​(S)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​​(S)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zh-CN" dirty="0"/>
              <a:t>20XX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zh-CN" dirty="0"/>
              <a:t>示例页脚文本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8227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5" r:id="rId2"/>
    <p:sldLayoutId id="2147483841" r:id="rId3"/>
    <p:sldLayoutId id="2147483856" r:id="rId4"/>
    <p:sldLayoutId id="2147483832" r:id="rId5"/>
    <p:sldLayoutId id="2147483854" r:id="rId6"/>
    <p:sldLayoutId id="2147483857" r:id="rId7"/>
    <p:sldLayoutId id="214748382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6000" kern="1200">
          <a:solidFill>
            <a:schemeClr val="tx2"/>
          </a:solidFill>
          <a:latin typeface="+mj-c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lang="zh-CN" sz="1800" kern="1200">
          <a:solidFill>
            <a:schemeClr val="tx2"/>
          </a:solidFill>
          <a:latin typeface="+mn-c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3.jpeg"/><Relationship Id="rId21" Type="http://schemas.openxmlformats.org/officeDocument/2006/relationships/image" Target="../media/image12.pn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2" Type="http://schemas.openxmlformats.org/officeDocument/2006/relationships/image" Target="../media/image2.jpe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8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9.xml"/><Relationship Id="rId18" Type="http://schemas.openxmlformats.org/officeDocument/2006/relationships/image" Target="../media/image33.png"/><Relationship Id="rId26" Type="http://schemas.openxmlformats.org/officeDocument/2006/relationships/image" Target="../media/image38.png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7" Type="http://schemas.openxmlformats.org/officeDocument/2006/relationships/customXml" Target="../ink/ink16.xml"/><Relationship Id="rId12" Type="http://schemas.openxmlformats.org/officeDocument/2006/relationships/image" Target="../media/image30.png"/><Relationship Id="rId17" Type="http://schemas.openxmlformats.org/officeDocument/2006/relationships/customXml" Target="../ink/ink21.xml"/><Relationship Id="rId25" Type="http://schemas.openxmlformats.org/officeDocument/2006/relationships/image" Target="../media/image37.png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11" Type="http://schemas.openxmlformats.org/officeDocument/2006/relationships/customXml" Target="../ink/ink18.xml"/><Relationship Id="rId24" Type="http://schemas.openxmlformats.org/officeDocument/2006/relationships/image" Target="../media/image36.png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image" Target="../media/image40.png"/><Relationship Id="rId10" Type="http://schemas.openxmlformats.org/officeDocument/2006/relationships/image" Target="../media/image29.png"/><Relationship Id="rId19" Type="http://schemas.openxmlformats.org/officeDocument/2006/relationships/customXml" Target="../ink/ink22.xml"/><Relationship Id="rId31" Type="http://schemas.openxmlformats.org/officeDocument/2006/relationships/image" Target="../media/image43.png"/><Relationship Id="rId4" Type="http://schemas.openxmlformats.org/officeDocument/2006/relationships/image" Target="../media/image26.png"/><Relationship Id="rId9" Type="http://schemas.openxmlformats.org/officeDocument/2006/relationships/customXml" Target="../ink/ink17.xml"/><Relationship Id="rId14" Type="http://schemas.openxmlformats.org/officeDocument/2006/relationships/image" Target="../media/image31.png"/><Relationship Id="rId22" Type="http://schemas.openxmlformats.org/officeDocument/2006/relationships/image" Target="../media/image35.png"/><Relationship Id="rId27" Type="http://schemas.openxmlformats.org/officeDocument/2006/relationships/image" Target="../media/image39.png"/><Relationship Id="rId30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712" y="1101307"/>
            <a:ext cx="9979687" cy="4655385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实验二</a:t>
            </a:r>
            <a:br>
              <a:rPr lang="en-US" altLang="zh-CN" dirty="0"/>
            </a:br>
            <a:r>
              <a:rPr lang="zh-CN" altLang="zh-CN" dirty="0"/>
              <a:t>分治法</a:t>
            </a:r>
            <a:r>
              <a:rPr lang="zh-CN" altLang="en-US" dirty="0"/>
              <a:t>：</a:t>
            </a:r>
            <a:r>
              <a:rPr lang="zh-CN" altLang="zh-CN" dirty="0"/>
              <a:t>最近点对问题 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C8C1F6-568D-F595-F7F8-38FCB140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96" y="-211178"/>
            <a:ext cx="10661904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分治法原理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0E567E-2862-396C-D8F6-67BAE705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2</a:t>
            </a:fld>
            <a:endParaRPr 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9EF389-E892-7F04-F39E-C3326317B2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12" y="3046474"/>
            <a:ext cx="4692102" cy="29905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48C20C-A5B0-256E-CF4F-757228BEBA47}"/>
              </a:ext>
            </a:extLst>
          </p:cNvPr>
          <p:cNvSpPr txBox="1"/>
          <p:nvPr/>
        </p:nvSpPr>
        <p:spPr>
          <a:xfrm>
            <a:off x="115557" y="1295819"/>
            <a:ext cx="52268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将所有的点，先按照</a:t>
            </a:r>
            <a:r>
              <a:rPr lang="en-US" altLang="zh-CN" dirty="0"/>
              <a:t>x</a:t>
            </a:r>
            <a:r>
              <a:rPr lang="zh-CN" altLang="en-US" dirty="0"/>
              <a:t>坐标排序一遍。</a:t>
            </a:r>
            <a:endParaRPr lang="en-US" altLang="zh-CN" dirty="0"/>
          </a:p>
          <a:p>
            <a:r>
              <a:rPr lang="zh-CN" altLang="en-US" dirty="0"/>
              <a:t>选择</a:t>
            </a:r>
            <a:r>
              <a:rPr lang="zh-CN" altLang="zh-CN" dirty="0"/>
              <a:t>中点进行分割即可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以此类推不断进行分割，当规模较小的适合，可以直接求出最近点对或者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切换成蛮力法直接求解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这样，我们可以分别找出</a:t>
            </a:r>
            <a:r>
              <a:rPr lang="en-US" altLang="zh-CN" dirty="0"/>
              <a:t>L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区域的最近点对</a:t>
            </a:r>
            <a:r>
              <a:rPr lang="en-US" altLang="zh-CN" dirty="0"/>
              <a:t>D1</a:t>
            </a:r>
            <a:r>
              <a:rPr lang="zh-CN" altLang="en-US" dirty="0"/>
              <a:t>，</a:t>
            </a:r>
            <a:r>
              <a:rPr lang="en-US" altLang="zh-CN" dirty="0"/>
              <a:t>D2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BF0106-9245-1D9C-312D-DFC8CC65E4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983" y="3013226"/>
            <a:ext cx="4487472" cy="28601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BF4A49D-DE3D-C632-49D2-66BC24AB829D}"/>
              </a:ext>
            </a:extLst>
          </p:cNvPr>
          <p:cNvCxnSpPr/>
          <p:nvPr/>
        </p:nvCxnSpPr>
        <p:spPr>
          <a:xfrm>
            <a:off x="5271248" y="0"/>
            <a:ext cx="0" cy="620101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248704D-4A71-83A1-0CDC-B78061CD39AF}"/>
              </a:ext>
            </a:extLst>
          </p:cNvPr>
          <p:cNvSpPr/>
          <p:nvPr/>
        </p:nvSpPr>
        <p:spPr>
          <a:xfrm>
            <a:off x="402412" y="783771"/>
            <a:ext cx="3024667" cy="453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找出左右区域的最近点对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45673B-5B87-6077-ECA8-D210CFDEEC66}"/>
              </a:ext>
            </a:extLst>
          </p:cNvPr>
          <p:cNvSpPr/>
          <p:nvPr/>
        </p:nvSpPr>
        <p:spPr>
          <a:xfrm>
            <a:off x="5447983" y="97933"/>
            <a:ext cx="4664205" cy="4533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找出中间区域的最近点对（合并代价）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B1D47F6-0B30-74A3-8BC6-CAF004C3AC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890" y="3238937"/>
            <a:ext cx="1776096" cy="27123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33C1829-5290-B5BB-520B-03C72B658DE9}"/>
              </a:ext>
            </a:extLst>
          </p:cNvPr>
          <p:cNvCxnSpPr/>
          <p:nvPr/>
        </p:nvCxnSpPr>
        <p:spPr>
          <a:xfrm>
            <a:off x="7053943" y="2991455"/>
            <a:ext cx="0" cy="286011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1D30EA0-85C9-4EDD-2840-1F42453C0051}"/>
              </a:ext>
            </a:extLst>
          </p:cNvPr>
          <p:cNvCxnSpPr/>
          <p:nvPr/>
        </p:nvCxnSpPr>
        <p:spPr>
          <a:xfrm>
            <a:off x="8059270" y="2991455"/>
            <a:ext cx="0" cy="2860110"/>
          </a:xfrm>
          <a:prstGeom prst="line">
            <a:avLst/>
          </a:prstGeom>
          <a:ln w="190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51BFF08-B5E2-C6B6-E991-CF9C71C45836}"/>
              </a:ext>
            </a:extLst>
          </p:cNvPr>
          <p:cNvGrpSpPr/>
          <p:nvPr/>
        </p:nvGrpSpPr>
        <p:grpSpPr>
          <a:xfrm>
            <a:off x="7021516" y="3004118"/>
            <a:ext cx="1039320" cy="2896200"/>
            <a:chOff x="7021516" y="3004118"/>
            <a:chExt cx="1039320" cy="289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418E21A-B5C0-E4E3-0263-3D179E7D3B5A}"/>
                    </a:ext>
                  </a:extLst>
                </p14:cNvPr>
                <p14:cNvContentPartPr/>
                <p14:nvPr/>
              </p14:nvContentPartPr>
              <p14:xfrm>
                <a:off x="7026916" y="3015278"/>
                <a:ext cx="172800" cy="16884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418E21A-B5C0-E4E3-0263-3D179E7D3B5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20796" y="3009158"/>
                  <a:ext cx="1850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A6888F37-1F90-5001-07E8-FAA8E08FC3E1}"/>
                    </a:ext>
                  </a:extLst>
                </p14:cNvPr>
                <p14:cNvContentPartPr/>
                <p14:nvPr/>
              </p14:nvContentPartPr>
              <p14:xfrm>
                <a:off x="7045276" y="3012038"/>
                <a:ext cx="308520" cy="4741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A6888F37-1F90-5001-07E8-FAA8E08FC3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39156" y="3005918"/>
                  <a:ext cx="32076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7398E77F-460D-8B83-C002-A3417577A647}"/>
                    </a:ext>
                  </a:extLst>
                </p14:cNvPr>
                <p14:cNvContentPartPr/>
                <p14:nvPr/>
              </p14:nvContentPartPr>
              <p14:xfrm>
                <a:off x="7027276" y="3058118"/>
                <a:ext cx="495360" cy="6652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7398E77F-460D-8B83-C002-A3417577A6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21156" y="3051998"/>
                  <a:ext cx="50760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2A4EC08B-C352-1F42-C33C-3D83EB800FA3}"/>
                    </a:ext>
                  </a:extLst>
                </p14:cNvPr>
                <p14:cNvContentPartPr/>
                <p14:nvPr/>
              </p14:nvContentPartPr>
              <p14:xfrm>
                <a:off x="7112236" y="3042998"/>
                <a:ext cx="589320" cy="8481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2A4EC08B-C352-1F42-C33C-3D83EB800F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06116" y="3036878"/>
                  <a:ext cx="60156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CEDAB9D9-D111-4B55-1FFF-C9E66C19798C}"/>
                    </a:ext>
                  </a:extLst>
                </p14:cNvPr>
                <p14:cNvContentPartPr/>
                <p14:nvPr/>
              </p14:nvContentPartPr>
              <p14:xfrm>
                <a:off x="7080556" y="3004118"/>
                <a:ext cx="903600" cy="13370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CEDAB9D9-D111-4B55-1FFF-C9E66C1979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74436" y="2997998"/>
                  <a:ext cx="915840" cy="13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9B5617C0-462A-36F5-045B-91D97AD73C89}"/>
                    </a:ext>
                  </a:extLst>
                </p14:cNvPr>
                <p14:cNvContentPartPr/>
                <p14:nvPr/>
              </p14:nvContentPartPr>
              <p14:xfrm>
                <a:off x="7057156" y="3419198"/>
                <a:ext cx="949320" cy="12873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9B5617C0-462A-36F5-045B-91D97AD73C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51036" y="3413078"/>
                  <a:ext cx="961560" cy="12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E8CADC01-6EF5-EC53-517F-32B26F2606F5}"/>
                    </a:ext>
                  </a:extLst>
                </p14:cNvPr>
                <p14:cNvContentPartPr/>
                <p14:nvPr/>
              </p14:nvContentPartPr>
              <p14:xfrm>
                <a:off x="7128436" y="3849758"/>
                <a:ext cx="901440" cy="12996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E8CADC01-6EF5-EC53-517F-32B26F2606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22316" y="3843638"/>
                  <a:ext cx="913680" cy="13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57B189A-B317-01DD-DC11-76E4BE61E472}"/>
                    </a:ext>
                  </a:extLst>
                </p14:cNvPr>
                <p14:cNvContentPartPr/>
                <p14:nvPr/>
              </p14:nvContentPartPr>
              <p14:xfrm>
                <a:off x="7021516" y="3200678"/>
                <a:ext cx="1031400" cy="12693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57B189A-B317-01DD-DC11-76E4BE61E47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15396" y="3194558"/>
                  <a:ext cx="1043640" cy="12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DCC67295-917A-EEE2-1205-C736C8666C3C}"/>
                    </a:ext>
                  </a:extLst>
                </p14:cNvPr>
                <p14:cNvContentPartPr/>
                <p14:nvPr/>
              </p14:nvContentPartPr>
              <p14:xfrm>
                <a:off x="7058596" y="4118678"/>
                <a:ext cx="971280" cy="13730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DCC67295-917A-EEE2-1205-C736C8666C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52476" y="4112558"/>
                  <a:ext cx="983520" cy="13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E66FB1CB-57A9-F98C-62AE-437E0AC41AAB}"/>
                    </a:ext>
                  </a:extLst>
                </p14:cNvPr>
                <p14:cNvContentPartPr/>
                <p14:nvPr/>
              </p14:nvContentPartPr>
              <p14:xfrm>
                <a:off x="7092436" y="4540958"/>
                <a:ext cx="945000" cy="12186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E66FB1CB-57A9-F98C-62AE-437E0AC41A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86316" y="4534838"/>
                  <a:ext cx="957240" cy="12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1DCBED28-371B-F2B0-D40E-81BB0E8FBADF}"/>
                    </a:ext>
                  </a:extLst>
                </p14:cNvPr>
                <p14:cNvContentPartPr/>
                <p14:nvPr/>
              </p14:nvContentPartPr>
              <p14:xfrm>
                <a:off x="7179196" y="5009678"/>
                <a:ext cx="881280" cy="8906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1DCBED28-371B-F2B0-D40E-81BB0E8FBAD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73076" y="5003558"/>
                  <a:ext cx="89352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C111479B-4A99-2CB8-B594-EFCF5C4BF838}"/>
                    </a:ext>
                  </a:extLst>
                </p14:cNvPr>
                <p14:cNvContentPartPr/>
                <p14:nvPr/>
              </p14:nvContentPartPr>
              <p14:xfrm>
                <a:off x="7492396" y="5247998"/>
                <a:ext cx="568440" cy="5558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C111479B-4A99-2CB8-B594-EFCF5C4BF8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86276" y="5241878"/>
                  <a:ext cx="5806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45B8D07F-4C5E-956C-5730-A4480CAD112C}"/>
                    </a:ext>
                  </a:extLst>
                </p14:cNvPr>
                <p14:cNvContentPartPr/>
                <p14:nvPr/>
              </p14:nvContentPartPr>
              <p14:xfrm>
                <a:off x="7743316" y="5509358"/>
                <a:ext cx="302400" cy="3524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45B8D07F-4C5E-956C-5730-A4480CAD11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737196" y="5503238"/>
                  <a:ext cx="314640" cy="36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A9914FE-6EB1-A4F6-E88F-90C9CC71363B}"/>
                  </a:ext>
                </a:extLst>
              </p:cNvPr>
              <p:cNvSpPr txBox="1"/>
              <p:nvPr/>
            </p:nvSpPr>
            <p:spPr>
              <a:xfrm>
                <a:off x="7406896" y="6209710"/>
                <a:ext cx="3799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A9914FE-6EB1-A4F6-E88F-90C9CC713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896" y="6209710"/>
                <a:ext cx="379911" cy="276999"/>
              </a:xfrm>
              <a:prstGeom prst="rect">
                <a:avLst/>
              </a:prstGeom>
              <a:blipFill>
                <a:blip r:embed="rId30"/>
                <a:stretch>
                  <a:fillRect l="-11290" r="-14516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881F2419-D209-9BDB-EF8E-BEB93B4B15BD}"/>
              </a:ext>
            </a:extLst>
          </p:cNvPr>
          <p:cNvSpPr txBox="1"/>
          <p:nvPr/>
        </p:nvSpPr>
        <p:spPr>
          <a:xfrm>
            <a:off x="5342402" y="666389"/>
            <a:ext cx="6846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对于中间区域，我们取</a:t>
            </a:r>
            <a:r>
              <a:rPr lang="en-US" altLang="zh-CN" dirty="0"/>
              <a:t>D=min(D1,D2)</a:t>
            </a:r>
            <a:r>
              <a:rPr lang="zh-CN" altLang="en-US" dirty="0"/>
              <a:t>。并在中线划出一条宽度为</a:t>
            </a:r>
            <a:r>
              <a:rPr lang="en-US" altLang="zh-CN" dirty="0"/>
              <a:t>2D</a:t>
            </a:r>
            <a:r>
              <a:rPr lang="zh-CN" altLang="en-US" dirty="0"/>
              <a:t>的带状区域，对这个区域内的点分别计算它与另一区域点的距离。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对于条带内的点</a:t>
            </a:r>
            <a:r>
              <a:rPr lang="en-US" altLang="zh-CN" dirty="0"/>
              <a:t>P</a:t>
            </a:r>
            <a:r>
              <a:rPr lang="zh-CN" altLang="en-US" dirty="0"/>
              <a:t>（我们选左侧某点为点</a:t>
            </a:r>
            <a:r>
              <a:rPr lang="en-US" altLang="zh-CN" dirty="0"/>
              <a:t>P</a:t>
            </a:r>
            <a:r>
              <a:rPr lang="zh-CN" altLang="en-US" dirty="0"/>
              <a:t>）。很自然的会想到寻找点</a:t>
            </a:r>
            <a:r>
              <a:rPr lang="en-US" altLang="zh-CN" dirty="0"/>
              <a:t>P</a:t>
            </a:r>
            <a:r>
              <a:rPr lang="zh-CN" altLang="en-US" dirty="0"/>
              <a:t>为原点，</a:t>
            </a:r>
            <a:r>
              <a:rPr lang="en-US" altLang="zh-CN" dirty="0"/>
              <a:t>D</a:t>
            </a:r>
            <a:r>
              <a:rPr lang="zh-CN" altLang="en-US" dirty="0"/>
              <a:t>为半径区域内是否有点。但我们为了简化计算，将半圆改成了长</a:t>
            </a:r>
            <a:r>
              <a:rPr lang="en-US" altLang="zh-CN" dirty="0"/>
              <a:t>2D</a:t>
            </a:r>
            <a:r>
              <a:rPr lang="zh-CN" altLang="en-US" dirty="0"/>
              <a:t>，宽</a:t>
            </a:r>
            <a:r>
              <a:rPr lang="en-US" altLang="zh-CN" dirty="0"/>
              <a:t>D</a:t>
            </a:r>
            <a:r>
              <a:rPr lang="zh-CN" altLang="en-US" dirty="0"/>
              <a:t>的长方形。</a:t>
            </a:r>
            <a:endParaRPr lang="en-US" altLang="zh-CN" dirty="0"/>
          </a:p>
          <a:p>
            <a:r>
              <a:rPr lang="zh-CN" altLang="en-US" dirty="0"/>
              <a:t>  然后对于点</a:t>
            </a:r>
            <a:r>
              <a:rPr lang="en-US" altLang="zh-CN" dirty="0"/>
              <a:t>P</a:t>
            </a:r>
            <a:r>
              <a:rPr lang="zh-CN" altLang="en-US" dirty="0"/>
              <a:t>，我们在按</a:t>
            </a:r>
            <a:r>
              <a:rPr lang="en-US" altLang="zh-CN" dirty="0"/>
              <a:t>y</a:t>
            </a:r>
            <a:r>
              <a:rPr lang="zh-CN" altLang="en-US" dirty="0"/>
              <a:t>排序好的基础上检查离</a:t>
            </a:r>
            <a:r>
              <a:rPr lang="en-US" altLang="zh-CN" dirty="0"/>
              <a:t>P</a:t>
            </a:r>
            <a:r>
              <a:rPr lang="zh-CN" altLang="en-US" dirty="0"/>
              <a:t>最近的</a:t>
            </a:r>
            <a:r>
              <a:rPr lang="en-US" altLang="zh-CN" dirty="0">
                <a:highlight>
                  <a:srgbClr val="FFFF00"/>
                </a:highlight>
              </a:rPr>
              <a:t>6</a:t>
            </a:r>
            <a:r>
              <a:rPr lang="zh-CN" altLang="en-US" dirty="0">
                <a:highlight>
                  <a:srgbClr val="FFFF00"/>
                </a:highlight>
              </a:rPr>
              <a:t>个点</a:t>
            </a:r>
            <a:r>
              <a:rPr lang="zh-CN" altLang="en-US" dirty="0"/>
              <a:t>就好了。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28E83CA-5D07-0934-4B7A-FDB2801E4403}"/>
              </a:ext>
            </a:extLst>
          </p:cNvPr>
          <p:cNvSpPr/>
          <p:nvPr/>
        </p:nvSpPr>
        <p:spPr>
          <a:xfrm>
            <a:off x="10035348" y="4203166"/>
            <a:ext cx="315045" cy="266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EEA6A172-A970-98BB-052A-DE07DDCA1867}"/>
              </a:ext>
            </a:extLst>
          </p:cNvPr>
          <p:cNvSpPr/>
          <p:nvPr/>
        </p:nvSpPr>
        <p:spPr>
          <a:xfrm>
            <a:off x="5108998" y="4232686"/>
            <a:ext cx="315045" cy="2668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B83A814-1B31-1CEB-329E-BA01BECF1E2C}"/>
                  </a:ext>
                </a:extLst>
              </p:cNvPr>
              <p:cNvSpPr txBox="1"/>
              <p:nvPr/>
            </p:nvSpPr>
            <p:spPr>
              <a:xfrm>
                <a:off x="10569466" y="4706558"/>
                <a:ext cx="227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AB83A814-1B31-1CEB-329E-BA01BECF1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9466" y="4706558"/>
                <a:ext cx="227626" cy="276999"/>
              </a:xfrm>
              <a:prstGeom prst="rect">
                <a:avLst/>
              </a:prstGeom>
              <a:blipFill>
                <a:blip r:embed="rId31"/>
                <a:stretch>
                  <a:fillRect l="-21622" r="-21622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弧形 41">
            <a:extLst>
              <a:ext uri="{FF2B5EF4-FFF2-40B4-BE49-F238E27FC236}">
                <a16:creationId xmlns:a16="http://schemas.microsoft.com/office/drawing/2014/main" id="{943BC9AE-558C-6E6F-D15A-4B8B78B60E4E}"/>
              </a:ext>
            </a:extLst>
          </p:cNvPr>
          <p:cNvSpPr/>
          <p:nvPr/>
        </p:nvSpPr>
        <p:spPr>
          <a:xfrm>
            <a:off x="9699908" y="4160953"/>
            <a:ext cx="1966742" cy="1480952"/>
          </a:xfrm>
          <a:prstGeom prst="arc">
            <a:avLst>
              <a:gd name="adj1" fmla="val 16778624"/>
              <a:gd name="adj2" fmla="val 447879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1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F0CC0-9970-46FE-F9EC-AAAF7BFA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30" y="-147865"/>
            <a:ext cx="10661904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鸽笼原理</a:t>
            </a:r>
            <a:r>
              <a:rPr lang="en-US" altLang="zh-CN" sz="4000" dirty="0"/>
              <a:t>---</a:t>
            </a:r>
            <a:r>
              <a:rPr lang="zh-CN" altLang="en-US" sz="4000" dirty="0"/>
              <a:t>为什么我们只用检查</a:t>
            </a:r>
            <a:r>
              <a:rPr lang="en-US" altLang="zh-CN" sz="4000" dirty="0"/>
              <a:t>6</a:t>
            </a:r>
            <a:r>
              <a:rPr lang="zh-CN" altLang="en-US" sz="4000" dirty="0"/>
              <a:t>个点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3CDE82-A956-1E16-635E-442AF184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3</a:t>
            </a:fld>
            <a:endParaRPr 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3943D0-D619-63AF-CF1E-54688A869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3" r="65380" b="8258"/>
          <a:stretch>
            <a:fillRect/>
          </a:stretch>
        </p:blipFill>
        <p:spPr bwMode="auto">
          <a:xfrm>
            <a:off x="2566523" y="3156147"/>
            <a:ext cx="2290939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B21393-D98A-6F22-3D26-B936173D2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5" t="4753" r="35282"/>
          <a:stretch>
            <a:fillRect/>
          </a:stretch>
        </p:blipFill>
        <p:spPr bwMode="auto">
          <a:xfrm>
            <a:off x="5957887" y="3156147"/>
            <a:ext cx="1876426" cy="2678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ECDAA6-C67F-91F7-647B-0A6D1FCD80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48" t="7462" r="5185" b="5980"/>
          <a:stretch>
            <a:fillRect/>
          </a:stretch>
        </p:blipFill>
        <p:spPr bwMode="auto">
          <a:xfrm>
            <a:off x="9096993" y="3104830"/>
            <a:ext cx="2191417" cy="266415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E883B310-124E-2B5A-7463-597012B921CC}"/>
              </a:ext>
            </a:extLst>
          </p:cNvPr>
          <p:cNvSpPr/>
          <p:nvPr/>
        </p:nvSpPr>
        <p:spPr>
          <a:xfrm>
            <a:off x="2566523" y="920403"/>
            <a:ext cx="2135982" cy="4071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8</a:t>
            </a:r>
            <a:r>
              <a:rPr lang="zh-CN" altLang="en-US" b="1" dirty="0"/>
              <a:t>个点？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22F0EF8-5482-5E29-6758-1F20D2116DB5}"/>
              </a:ext>
            </a:extLst>
          </p:cNvPr>
          <p:cNvSpPr/>
          <p:nvPr/>
        </p:nvSpPr>
        <p:spPr>
          <a:xfrm>
            <a:off x="9124711" y="846081"/>
            <a:ext cx="2135982" cy="4071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</a:t>
            </a:r>
            <a:r>
              <a:rPr lang="zh-CN" altLang="en-US" b="1" dirty="0"/>
              <a:t>个点？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56FBD3C-D895-305F-8666-4761DC969BA5}"/>
                  </a:ext>
                </a:extLst>
              </p:cNvPr>
              <p:cNvSpPr txBox="1"/>
              <p:nvPr/>
            </p:nvSpPr>
            <p:spPr>
              <a:xfrm>
                <a:off x="8701901" y="1357360"/>
                <a:ext cx="2864644" cy="1597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  将长方形分成四个小区域，长宽分别为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dirty="0"/>
                  <a:t>，和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dirty="0"/>
                  <a:t>但小长方形内的对角线已经大于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了，我们就无法运用鸽笼定理</a:t>
                </a:r>
                <a:endParaRPr lang="en-US" altLang="zh-CN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56FBD3C-D895-305F-8666-4761DC969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901" y="1357360"/>
                <a:ext cx="2864644" cy="1597810"/>
              </a:xfrm>
              <a:prstGeom prst="rect">
                <a:avLst/>
              </a:prstGeom>
              <a:blipFill>
                <a:blip r:embed="rId3"/>
                <a:stretch>
                  <a:fillRect l="-1702" t="-2290" b="-5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E98EA7-97A7-B02E-26FC-3FC77F9D6C4B}"/>
              </a:ext>
            </a:extLst>
          </p:cNvPr>
          <p:cNvSpPr/>
          <p:nvPr/>
        </p:nvSpPr>
        <p:spPr>
          <a:xfrm>
            <a:off x="5898876" y="874589"/>
            <a:ext cx="2135982" cy="4071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6</a:t>
            </a:r>
            <a:r>
              <a:rPr lang="zh-CN" altLang="en-US" b="1" dirty="0"/>
              <a:t>个点？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AF5B5A-1CF1-20C8-0AEC-8EB50AC9FB4B}"/>
                  </a:ext>
                </a:extLst>
              </p:cNvPr>
              <p:cNvSpPr txBox="1"/>
              <p:nvPr/>
            </p:nvSpPr>
            <p:spPr>
              <a:xfrm>
                <a:off x="5687282" y="1317523"/>
                <a:ext cx="2864644" cy="1876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对角线长度是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en-US" dirty="0"/>
                  <a:t>，如果放入超过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个点，必然会存在一个小矩形内存在两个点。而小矩形内最大的距离小于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，也就是说这两个点的距离必然也小于</a:t>
                </a:r>
                <a:r>
                  <a:rPr lang="en-US" altLang="zh-CN" dirty="0"/>
                  <a:t>D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0AF5B5A-1CF1-20C8-0AEC-8EB50AC9F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7282" y="1317523"/>
                <a:ext cx="2864644" cy="1876539"/>
              </a:xfrm>
              <a:prstGeom prst="rect">
                <a:avLst/>
              </a:prstGeom>
              <a:blipFill>
                <a:blip r:embed="rId4"/>
                <a:stretch>
                  <a:fillRect l="-1915" r="-1064" b="-4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0B41504D-FFB3-E412-3C3D-ABC6E62FE69E}"/>
              </a:ext>
            </a:extLst>
          </p:cNvPr>
          <p:cNvSpPr txBox="1"/>
          <p:nvPr/>
        </p:nvSpPr>
        <p:spPr>
          <a:xfrm>
            <a:off x="1053703" y="5886270"/>
            <a:ext cx="10084594" cy="923330"/>
          </a:xfrm>
          <a:prstGeom prst="rect">
            <a:avLst/>
          </a:prstGeom>
          <a:solidFill>
            <a:srgbClr val="FFC6C6">
              <a:alpha val="32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  </a:t>
            </a:r>
            <a:r>
              <a:rPr lang="zh-CN" altLang="zh-CN" dirty="0"/>
              <a:t>每个格子的最大直径必须小于当前最小距离</a:t>
            </a:r>
            <a:r>
              <a:rPr lang="en-US" altLang="zh-CN" dirty="0"/>
              <a:t> d”</a:t>
            </a:r>
            <a:r>
              <a:rPr lang="zh-CN" altLang="zh-CN" dirty="0"/>
              <a:t>。如果分成较大的格子（如</a:t>
            </a:r>
            <a:r>
              <a:rPr lang="en-US" altLang="zh-CN" dirty="0"/>
              <a:t> </a:t>
            </a:r>
            <a:r>
              <a:rPr lang="en-US" altLang="zh-CN" dirty="0" err="1"/>
              <a:t>d×d</a:t>
            </a:r>
            <a:r>
              <a:rPr lang="zh-CN" altLang="zh-CN" dirty="0"/>
              <a:t>），其对角线超过</a:t>
            </a:r>
            <a:r>
              <a:rPr lang="en-US" altLang="zh-CN" dirty="0"/>
              <a:t> d</a:t>
            </a:r>
            <a:r>
              <a:rPr lang="zh-CN" altLang="zh-CN" dirty="0"/>
              <a:t>，就无法保证同一格内点的距离小于</a:t>
            </a:r>
            <a:r>
              <a:rPr lang="en-US" altLang="zh-CN" dirty="0"/>
              <a:t> d</a:t>
            </a:r>
            <a:r>
              <a:rPr lang="zh-CN" altLang="zh-CN" dirty="0"/>
              <a:t>，从而鸽笼原理无法成立。因此必须将区域划分为更小的格子（如</a:t>
            </a:r>
            <a:r>
              <a:rPr lang="en-US" altLang="zh-CN" dirty="0"/>
              <a:t> d/2 × d/2</a:t>
            </a:r>
            <a:r>
              <a:rPr lang="zh-CN" altLang="zh-CN" dirty="0"/>
              <a:t>），才能建立正确的约束关系</a:t>
            </a:r>
            <a:endParaRPr lang="en-US" altLang="zh-CN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5DD55EF-7213-3C4C-339D-5011CEF6FC79}"/>
              </a:ext>
            </a:extLst>
          </p:cNvPr>
          <p:cNvGrpSpPr/>
          <p:nvPr/>
        </p:nvGrpSpPr>
        <p:grpSpPr>
          <a:xfrm>
            <a:off x="2341951" y="1617127"/>
            <a:ext cx="2627910" cy="1304448"/>
            <a:chOff x="595098" y="1622387"/>
            <a:chExt cx="2627910" cy="1304448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9A022BD0-6377-4AA3-6796-2B6BCF9EF535}"/>
                </a:ext>
              </a:extLst>
            </p:cNvPr>
            <p:cNvGrpSpPr/>
            <p:nvPr/>
          </p:nvGrpSpPr>
          <p:grpSpPr>
            <a:xfrm>
              <a:off x="596900" y="2274611"/>
              <a:ext cx="2626108" cy="652224"/>
              <a:chOff x="596900" y="2274611"/>
              <a:chExt cx="2626108" cy="652224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BF59C1B-2FE0-C35A-01B2-F515ACDD1A8F}"/>
                  </a:ext>
                </a:extLst>
              </p:cNvPr>
              <p:cNvSpPr/>
              <p:nvPr/>
            </p:nvSpPr>
            <p:spPr>
              <a:xfrm>
                <a:off x="596900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EC55FBB2-6569-B572-78A5-2CC53A249C27}"/>
                  </a:ext>
                </a:extLst>
              </p:cNvPr>
              <p:cNvSpPr/>
              <p:nvPr/>
            </p:nvSpPr>
            <p:spPr>
              <a:xfrm>
                <a:off x="1256552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168B9E76-9E7E-CA7C-2623-5FF659A3F275}"/>
                  </a:ext>
                </a:extLst>
              </p:cNvPr>
              <p:cNvSpPr/>
              <p:nvPr/>
            </p:nvSpPr>
            <p:spPr>
              <a:xfrm>
                <a:off x="1919808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AB383F26-9478-F121-3BD0-F48D48AFA41B}"/>
                  </a:ext>
                </a:extLst>
              </p:cNvPr>
              <p:cNvSpPr/>
              <p:nvPr/>
            </p:nvSpPr>
            <p:spPr>
              <a:xfrm>
                <a:off x="2571408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8EDFDAF8-0F97-8850-4E62-372AB860F736}"/>
                </a:ext>
              </a:extLst>
            </p:cNvPr>
            <p:cNvGrpSpPr/>
            <p:nvPr/>
          </p:nvGrpSpPr>
          <p:grpSpPr>
            <a:xfrm>
              <a:off x="595098" y="1622387"/>
              <a:ext cx="2626108" cy="652224"/>
              <a:chOff x="596900" y="2274611"/>
              <a:chExt cx="2626108" cy="652224"/>
            </a:xfrm>
          </p:grpSpPr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A813A5CD-99B3-08D5-42BE-6373C405620E}"/>
                  </a:ext>
                </a:extLst>
              </p:cNvPr>
              <p:cNvSpPr/>
              <p:nvPr/>
            </p:nvSpPr>
            <p:spPr>
              <a:xfrm>
                <a:off x="596900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922617B3-6A9A-9922-B451-12681ED6C87B}"/>
                  </a:ext>
                </a:extLst>
              </p:cNvPr>
              <p:cNvSpPr/>
              <p:nvPr/>
            </p:nvSpPr>
            <p:spPr>
              <a:xfrm>
                <a:off x="1256552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B3AB5E2A-9536-88E8-28C5-6ABAC64EDE61}"/>
                  </a:ext>
                </a:extLst>
              </p:cNvPr>
              <p:cNvSpPr/>
              <p:nvPr/>
            </p:nvSpPr>
            <p:spPr>
              <a:xfrm>
                <a:off x="1919808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E3E0D486-018C-97D9-8E28-055205FC5332}"/>
                  </a:ext>
                </a:extLst>
              </p:cNvPr>
              <p:cNvSpPr/>
              <p:nvPr/>
            </p:nvSpPr>
            <p:spPr>
              <a:xfrm>
                <a:off x="2571408" y="2274611"/>
                <a:ext cx="651600" cy="652224"/>
              </a:xfrm>
              <a:prstGeom prst="ellipse">
                <a:avLst/>
              </a:prstGeom>
              <a:solidFill>
                <a:srgbClr val="C5D3FF">
                  <a:alpha val="4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F11783F-27F3-427C-3612-FBA24ADFD143}"/>
                </a:ext>
              </a:extLst>
            </p:cNvPr>
            <p:cNvSpPr/>
            <p:nvPr/>
          </p:nvSpPr>
          <p:spPr>
            <a:xfrm>
              <a:off x="920898" y="1948499"/>
              <a:ext cx="1974702" cy="652223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1441116-9AAB-2894-C5D4-E9FAD755A66D}"/>
                  </a:ext>
                </a:extLst>
              </p:cNvPr>
              <p:cNvSpPr txBox="1"/>
              <p:nvPr/>
            </p:nvSpPr>
            <p:spPr>
              <a:xfrm>
                <a:off x="3479377" y="1634138"/>
                <a:ext cx="3494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91441116-9AAB-2894-C5D4-E9FAD755A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377" y="1634138"/>
                <a:ext cx="349455" cy="276999"/>
              </a:xfrm>
              <a:prstGeom prst="rect">
                <a:avLst/>
              </a:prstGeom>
              <a:blipFill>
                <a:blip r:embed="rId5"/>
                <a:stretch>
                  <a:fillRect l="-14035" r="-14035"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DB18384-5F9A-7E91-1471-925832784F2E}"/>
                  </a:ext>
                </a:extLst>
              </p:cNvPr>
              <p:cNvSpPr txBox="1"/>
              <p:nvPr/>
            </p:nvSpPr>
            <p:spPr>
              <a:xfrm>
                <a:off x="4702505" y="2119452"/>
                <a:ext cx="2212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9DB18384-5F9A-7E91-1471-925832784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2505" y="2119452"/>
                <a:ext cx="221214" cy="276999"/>
              </a:xfrm>
              <a:prstGeom prst="rect">
                <a:avLst/>
              </a:prstGeom>
              <a:blipFill>
                <a:blip r:embed="rId6"/>
                <a:stretch>
                  <a:fillRect l="-18919" r="-21622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BF60E53-855E-9BC0-5741-FFC5201CBB87}"/>
                  </a:ext>
                </a:extLst>
              </p:cNvPr>
              <p:cNvSpPr txBox="1"/>
              <p:nvPr/>
            </p:nvSpPr>
            <p:spPr>
              <a:xfrm>
                <a:off x="328336" y="1736046"/>
                <a:ext cx="1673682" cy="1043812"/>
              </a:xfrm>
              <a:prstGeom prst="rect">
                <a:avLst/>
              </a:prstGeom>
              <a:noFill/>
              <a:ln w="15875">
                <a:solidFill>
                  <a:schemeClr val="accent1">
                    <a:shade val="1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想象每个点都有一个半径为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“安全结界“</a:t>
                </a:r>
                <a:endParaRPr lang="en-US" altLang="zh-CN" dirty="0"/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BF60E53-855E-9BC0-5741-FFC5201CB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36" y="1736046"/>
                <a:ext cx="1673682" cy="1043812"/>
              </a:xfrm>
              <a:prstGeom prst="rect">
                <a:avLst/>
              </a:prstGeom>
              <a:blipFill>
                <a:blip r:embed="rId7"/>
                <a:stretch>
                  <a:fillRect l="-2888" t="-2874" r="-2166" b="-1724"/>
                </a:stretch>
              </a:blipFill>
              <a:ln w="15875">
                <a:solidFill>
                  <a:schemeClr val="accent1">
                    <a:shade val="1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81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0B3A-1E36-4D55-3DA9-B2619FA86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354B26-D491-B9B8-DE62-6052E93E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20" y="99568"/>
            <a:ext cx="4416551" cy="6858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分治法时间复杂度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E4E75A-6C07-DC59-F819-CC8D6C5F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4</a:t>
            </a:fld>
            <a:endParaRPr lang="zh-CN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762A8B-9777-7754-7CC6-0CE4C4DF250A}"/>
              </a:ext>
            </a:extLst>
          </p:cNvPr>
          <p:cNvGrpSpPr/>
          <p:nvPr/>
        </p:nvGrpSpPr>
        <p:grpSpPr>
          <a:xfrm>
            <a:off x="454268" y="1079138"/>
            <a:ext cx="3343596" cy="3280221"/>
            <a:chOff x="487616" y="1277189"/>
            <a:chExt cx="3343596" cy="3280221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9AF9759-A895-9CE6-11F7-D01EB62D7FB9}"/>
                </a:ext>
              </a:extLst>
            </p:cNvPr>
            <p:cNvSpPr/>
            <p:nvPr/>
          </p:nvSpPr>
          <p:spPr>
            <a:xfrm>
              <a:off x="2311614" y="18892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F712DEA-F2CF-6264-D3EF-0A380D970415}"/>
                </a:ext>
              </a:extLst>
            </p:cNvPr>
            <p:cNvSpPr/>
            <p:nvPr/>
          </p:nvSpPr>
          <p:spPr>
            <a:xfrm>
              <a:off x="2792787" y="31051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721FA8A-1106-8873-A5A3-F989D8187D42}"/>
                </a:ext>
              </a:extLst>
            </p:cNvPr>
            <p:cNvSpPr/>
            <p:nvPr/>
          </p:nvSpPr>
          <p:spPr>
            <a:xfrm>
              <a:off x="2883673" y="21546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7CBA2C6-624A-5AF5-1B2A-7939AE381A26}"/>
                </a:ext>
              </a:extLst>
            </p:cNvPr>
            <p:cNvSpPr/>
            <p:nvPr/>
          </p:nvSpPr>
          <p:spPr>
            <a:xfrm>
              <a:off x="2236054" y="272014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4A2695B-DE71-8AC6-BE60-9D76CD47B929}"/>
                </a:ext>
              </a:extLst>
            </p:cNvPr>
            <p:cNvSpPr/>
            <p:nvPr/>
          </p:nvSpPr>
          <p:spPr>
            <a:xfrm>
              <a:off x="2439680" y="386068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9243C1B-9B5D-02BD-F046-5999B65AB720}"/>
                </a:ext>
              </a:extLst>
            </p:cNvPr>
            <p:cNvSpPr/>
            <p:nvPr/>
          </p:nvSpPr>
          <p:spPr>
            <a:xfrm>
              <a:off x="487616" y="331382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1345125-4276-BFF4-9788-DAE4DAA926E6}"/>
                </a:ext>
              </a:extLst>
            </p:cNvPr>
            <p:cNvSpPr/>
            <p:nvPr/>
          </p:nvSpPr>
          <p:spPr>
            <a:xfrm>
              <a:off x="1415143" y="358594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803C4EDA-D5B8-C8A2-3D84-A4573B0C8C4D}"/>
                </a:ext>
              </a:extLst>
            </p:cNvPr>
            <p:cNvSpPr/>
            <p:nvPr/>
          </p:nvSpPr>
          <p:spPr>
            <a:xfrm>
              <a:off x="1146203" y="321392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D07171F9-0CA4-E84C-2832-4C9539E443B5}"/>
                </a:ext>
              </a:extLst>
            </p:cNvPr>
            <p:cNvSpPr/>
            <p:nvPr/>
          </p:nvSpPr>
          <p:spPr>
            <a:xfrm>
              <a:off x="972390" y="38209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A6CD482-3F47-DD22-FC2F-73C1D774D45B}"/>
                </a:ext>
              </a:extLst>
            </p:cNvPr>
            <p:cNvSpPr/>
            <p:nvPr/>
          </p:nvSpPr>
          <p:spPr>
            <a:xfrm>
              <a:off x="1437556" y="437699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2AB3B8A-9FE5-316B-663E-ED475EAB04EF}"/>
                </a:ext>
              </a:extLst>
            </p:cNvPr>
            <p:cNvSpPr/>
            <p:nvPr/>
          </p:nvSpPr>
          <p:spPr>
            <a:xfrm>
              <a:off x="781410" y="20137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DFED9065-413F-7243-6808-699B7BF02AC6}"/>
                </a:ext>
              </a:extLst>
            </p:cNvPr>
            <p:cNvSpPr/>
            <p:nvPr/>
          </p:nvSpPr>
          <p:spPr>
            <a:xfrm>
              <a:off x="1706497" y="24711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9B8A01AC-6B91-10AE-2652-6A6D27595A8E}"/>
                </a:ext>
              </a:extLst>
            </p:cNvPr>
            <p:cNvSpPr/>
            <p:nvPr/>
          </p:nvSpPr>
          <p:spPr>
            <a:xfrm>
              <a:off x="1479297" y="174939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D845971-C31B-0E41-14B7-08E7A079E8F7}"/>
                </a:ext>
              </a:extLst>
            </p:cNvPr>
            <p:cNvSpPr/>
            <p:nvPr/>
          </p:nvSpPr>
          <p:spPr>
            <a:xfrm>
              <a:off x="781410" y="255530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BB6FE1A7-4627-B68C-A6F8-A38B456BD6C6}"/>
                </a:ext>
              </a:extLst>
            </p:cNvPr>
            <p:cNvSpPr/>
            <p:nvPr/>
          </p:nvSpPr>
          <p:spPr>
            <a:xfrm>
              <a:off x="1232809" y="257100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6A3AD79-24C1-4805-1398-1FB6010695AF}"/>
                </a:ext>
              </a:extLst>
            </p:cNvPr>
            <p:cNvSpPr/>
            <p:nvPr/>
          </p:nvSpPr>
          <p:spPr>
            <a:xfrm>
              <a:off x="3677453" y="27094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AF1D40A-6E60-BED9-A43D-CE5981F87CB3}"/>
                </a:ext>
              </a:extLst>
            </p:cNvPr>
            <p:cNvSpPr/>
            <p:nvPr/>
          </p:nvSpPr>
          <p:spPr>
            <a:xfrm>
              <a:off x="3754372" y="3361204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6CBD8B1-7F10-3541-5604-CC84B149E32F}"/>
                </a:ext>
              </a:extLst>
            </p:cNvPr>
            <p:cNvSpPr/>
            <p:nvPr/>
          </p:nvSpPr>
          <p:spPr>
            <a:xfrm>
              <a:off x="2715947" y="445751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F8AADAA-19C3-9159-D7F7-FBC2027156C4}"/>
                </a:ext>
              </a:extLst>
            </p:cNvPr>
            <p:cNvSpPr/>
            <p:nvPr/>
          </p:nvSpPr>
          <p:spPr>
            <a:xfrm>
              <a:off x="2184008" y="435762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1C1689D-21A4-7DE4-E615-AEB38090EB81}"/>
                </a:ext>
              </a:extLst>
            </p:cNvPr>
            <p:cNvSpPr/>
            <p:nvPr/>
          </p:nvSpPr>
          <p:spPr>
            <a:xfrm>
              <a:off x="3153016" y="42114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C9F14EF-987E-B0C1-183D-3EFB0A96428E}"/>
                </a:ext>
              </a:extLst>
            </p:cNvPr>
            <p:cNvSpPr txBox="1"/>
            <p:nvPr/>
          </p:nvSpPr>
          <p:spPr>
            <a:xfrm>
              <a:off x="1529123" y="2302117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P</a:t>
              </a:r>
              <a:endParaRPr lang="zh-CN" altLang="en-US" sz="1200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81576215-8623-989C-77B3-BC6025F57E3D}"/>
                </a:ext>
              </a:extLst>
            </p:cNvPr>
            <p:cNvSpPr txBox="1"/>
            <p:nvPr/>
          </p:nvSpPr>
          <p:spPr>
            <a:xfrm>
              <a:off x="2336963" y="173679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S</a:t>
              </a:r>
              <a:endParaRPr lang="zh-CN" altLang="en-US" sz="1200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2C2C8C4-2BFD-9A34-328C-9D3DB88031A4}"/>
                </a:ext>
              </a:extLst>
            </p:cNvPr>
            <p:cNvSpPr txBox="1"/>
            <p:nvPr/>
          </p:nvSpPr>
          <p:spPr>
            <a:xfrm>
              <a:off x="1998204" y="253233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N</a:t>
              </a:r>
              <a:endParaRPr lang="zh-CN" altLang="en-US" sz="1200" b="1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A5FF9EF3-5462-1EB2-1A89-0A8F329087A8}"/>
                </a:ext>
              </a:extLst>
            </p:cNvPr>
            <p:cNvSpPr txBox="1"/>
            <p:nvPr/>
          </p:nvSpPr>
          <p:spPr>
            <a:xfrm>
              <a:off x="726928" y="1302162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L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02C8F97-4D4C-9314-9B22-18232C1853C8}"/>
                </a:ext>
              </a:extLst>
            </p:cNvPr>
            <p:cNvSpPr txBox="1"/>
            <p:nvPr/>
          </p:nvSpPr>
          <p:spPr>
            <a:xfrm>
              <a:off x="3153016" y="1277189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R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A03990B-B585-2A84-2A8D-BA4FF58AA225}"/>
              </a:ext>
            </a:extLst>
          </p:cNvPr>
          <p:cNvCxnSpPr/>
          <p:nvPr/>
        </p:nvCxnSpPr>
        <p:spPr>
          <a:xfrm>
            <a:off x="1967844" y="1365489"/>
            <a:ext cx="0" cy="3065929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7DCE5F4B-9994-4662-E4A8-7D572C29644C}"/>
              </a:ext>
            </a:extLst>
          </p:cNvPr>
          <p:cNvSpPr/>
          <p:nvPr/>
        </p:nvSpPr>
        <p:spPr>
          <a:xfrm>
            <a:off x="380542" y="1001882"/>
            <a:ext cx="3431272" cy="367131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6B1D0FE-C3EB-C603-E3F4-77661DC478DF}"/>
              </a:ext>
            </a:extLst>
          </p:cNvPr>
          <p:cNvSpPr txBox="1"/>
          <p:nvPr/>
        </p:nvSpPr>
        <p:spPr>
          <a:xfrm>
            <a:off x="1376273" y="1268159"/>
            <a:ext cx="262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G</a:t>
            </a:r>
            <a:endParaRPr lang="zh-CN" altLang="en-US" sz="1200" b="1" dirty="0"/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41E6C174-D38D-EE71-64C5-9222C755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94" b="14427"/>
          <a:stretch>
            <a:fillRect/>
          </a:stretch>
        </p:blipFill>
        <p:spPr>
          <a:xfrm>
            <a:off x="322039" y="4686013"/>
            <a:ext cx="3548277" cy="696314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5F148A30-6742-D439-9630-5FAD36AC2F7B}"/>
              </a:ext>
            </a:extLst>
          </p:cNvPr>
          <p:cNvCxnSpPr/>
          <p:nvPr/>
        </p:nvCxnSpPr>
        <p:spPr>
          <a:xfrm flipH="1">
            <a:off x="1199461" y="1104111"/>
            <a:ext cx="38420" cy="3569090"/>
          </a:xfrm>
          <a:prstGeom prst="line">
            <a:avLst/>
          </a:prstGeom>
          <a:ln w="222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697AE37-ABC1-225F-BF30-CEB0CBB51343}"/>
              </a:ext>
            </a:extLst>
          </p:cNvPr>
          <p:cNvCxnSpPr/>
          <p:nvPr/>
        </p:nvCxnSpPr>
        <p:spPr>
          <a:xfrm flipH="1">
            <a:off x="2512156" y="1122571"/>
            <a:ext cx="38420" cy="3569090"/>
          </a:xfrm>
          <a:prstGeom prst="line">
            <a:avLst/>
          </a:prstGeom>
          <a:ln w="222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4" name="墨迹 63">
                <a:extLst>
                  <a:ext uri="{FF2B5EF4-FFF2-40B4-BE49-F238E27FC236}">
                    <a16:creationId xmlns:a16="http://schemas.microsoft.com/office/drawing/2014/main" id="{ABFAE31B-31D1-452F-8FBE-88D5FAFBFA2E}"/>
                  </a:ext>
                </a:extLst>
              </p14:cNvPr>
              <p14:cNvContentPartPr/>
              <p14:nvPr/>
            </p14:nvContentPartPr>
            <p14:xfrm>
              <a:off x="5413617" y="1284400"/>
              <a:ext cx="360" cy="360"/>
            </p14:xfrm>
          </p:contentPart>
        </mc:Choice>
        <mc:Fallback>
          <p:pic>
            <p:nvPicPr>
              <p:cNvPr id="64" name="墨迹 63">
                <a:extLst>
                  <a:ext uri="{FF2B5EF4-FFF2-40B4-BE49-F238E27FC236}">
                    <a16:creationId xmlns:a16="http://schemas.microsoft.com/office/drawing/2014/main" id="{ABFAE31B-31D1-452F-8FBE-88D5FAFBFA2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497" y="127828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组合 98">
            <a:extLst>
              <a:ext uri="{FF2B5EF4-FFF2-40B4-BE49-F238E27FC236}">
                <a16:creationId xmlns:a16="http://schemas.microsoft.com/office/drawing/2014/main" id="{1FB5002C-F059-E8CD-C858-107E654A577F}"/>
              </a:ext>
            </a:extLst>
          </p:cNvPr>
          <p:cNvGrpSpPr/>
          <p:nvPr/>
        </p:nvGrpSpPr>
        <p:grpSpPr>
          <a:xfrm>
            <a:off x="1160937" y="1139320"/>
            <a:ext cx="1422720" cy="3607920"/>
            <a:chOff x="1160937" y="1139320"/>
            <a:chExt cx="1422720" cy="36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AF0E16D5-2F3E-6F28-D039-907465BAA2DC}"/>
                    </a:ext>
                  </a:extLst>
                </p14:cNvPr>
                <p14:cNvContentPartPr/>
                <p14:nvPr/>
              </p14:nvContentPartPr>
              <p14:xfrm>
                <a:off x="1196577" y="1139320"/>
                <a:ext cx="385920" cy="4179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AF0E16D5-2F3E-6F28-D039-907465BAA2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87577" y="1130680"/>
                  <a:ext cx="40356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233E04B3-1E00-A826-1971-4173D568E80A}"/>
                    </a:ext>
                  </a:extLst>
                </p14:cNvPr>
                <p14:cNvContentPartPr/>
                <p14:nvPr/>
              </p14:nvContentPartPr>
              <p14:xfrm>
                <a:off x="1160937" y="1255240"/>
                <a:ext cx="842040" cy="6217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233E04B3-1E00-A826-1971-4173D568E80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52297" y="1246240"/>
                  <a:ext cx="85968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52E323F0-5AAA-1F8E-D72E-D1BF99DD7419}"/>
                    </a:ext>
                  </a:extLst>
                </p14:cNvPr>
                <p14:cNvContentPartPr/>
                <p14:nvPr/>
              </p14:nvContentPartPr>
              <p14:xfrm>
                <a:off x="1223577" y="1306000"/>
                <a:ext cx="1105920" cy="101376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52E323F0-5AAA-1F8E-D72E-D1BF99DD74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14937" y="1297360"/>
                  <a:ext cx="1123560" cy="10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DB418160-0529-CCB8-8185-3944E64B1481}"/>
                    </a:ext>
                  </a:extLst>
                </p14:cNvPr>
                <p14:cNvContentPartPr/>
                <p14:nvPr/>
              </p14:nvContentPartPr>
              <p14:xfrm>
                <a:off x="1283337" y="1480240"/>
                <a:ext cx="1263600" cy="129744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DB418160-0529-CCB8-8185-3944E64B148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74697" y="1471240"/>
                  <a:ext cx="1281240" cy="13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FF175CF7-29DA-D847-F5B5-C97557FEC160}"/>
                    </a:ext>
                  </a:extLst>
                </p14:cNvPr>
                <p14:cNvContentPartPr/>
                <p14:nvPr/>
              </p14:nvContentPartPr>
              <p14:xfrm>
                <a:off x="1348137" y="2068120"/>
                <a:ext cx="1235520" cy="120456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FF175CF7-29DA-D847-F5B5-C97557FEC16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339137" y="2059480"/>
                  <a:ext cx="1253160" cy="12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D161AAA0-0D19-1304-C03B-E729B39AA150}"/>
                    </a:ext>
                  </a:extLst>
                </p14:cNvPr>
                <p14:cNvContentPartPr/>
                <p14:nvPr/>
              </p14:nvContentPartPr>
              <p14:xfrm>
                <a:off x="1225017" y="2605240"/>
                <a:ext cx="1315080" cy="142092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D161AAA0-0D19-1304-C03B-E729B39AA15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16017" y="2596240"/>
                  <a:ext cx="1332720" cy="14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898AB841-395D-70D6-6F1A-5D48E0C60573}"/>
                    </a:ext>
                  </a:extLst>
                </p14:cNvPr>
                <p14:cNvContentPartPr/>
                <p14:nvPr/>
              </p14:nvContentPartPr>
              <p14:xfrm>
                <a:off x="1235817" y="3048040"/>
                <a:ext cx="1333440" cy="134316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898AB841-395D-70D6-6F1A-5D48E0C605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26817" y="3039040"/>
                  <a:ext cx="1351080" cy="13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857FCBD0-8A29-0F81-B792-CAD41F526ACA}"/>
                    </a:ext>
                  </a:extLst>
                </p14:cNvPr>
                <p14:cNvContentPartPr/>
                <p14:nvPr/>
              </p14:nvContentPartPr>
              <p14:xfrm>
                <a:off x="1541097" y="3621160"/>
                <a:ext cx="1020960" cy="100368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857FCBD0-8A29-0F81-B792-CAD41F526AC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32097" y="3612520"/>
                  <a:ext cx="1038600" cy="10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98250374-69B6-5CA7-4F82-D63020B0E269}"/>
                    </a:ext>
                  </a:extLst>
                </p14:cNvPr>
                <p14:cNvContentPartPr/>
                <p14:nvPr/>
              </p14:nvContentPartPr>
              <p14:xfrm>
                <a:off x="1800657" y="4056760"/>
                <a:ext cx="717480" cy="62388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98250374-69B6-5CA7-4F82-D63020B0E26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92017" y="4048120"/>
                  <a:ext cx="7351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818FEE60-D2BD-DF24-36E7-8118BAECFD1D}"/>
                    </a:ext>
                  </a:extLst>
                </p14:cNvPr>
                <p14:cNvContentPartPr/>
                <p14:nvPr/>
              </p14:nvContentPartPr>
              <p14:xfrm>
                <a:off x="2098737" y="4274200"/>
                <a:ext cx="463320" cy="47304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818FEE60-D2BD-DF24-36E7-8118BAECFD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90097" y="4265200"/>
                  <a:ext cx="480960" cy="490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47E9ED-DE3B-B8ED-0AC9-6D496036C3B5}"/>
              </a:ext>
            </a:extLst>
          </p:cNvPr>
          <p:cNvSpPr txBox="1"/>
          <p:nvPr/>
        </p:nvSpPr>
        <p:spPr>
          <a:xfrm>
            <a:off x="355008" y="5255299"/>
            <a:ext cx="230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运用主定理分析：</a:t>
            </a:r>
          </a:p>
        </p:txBody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5235B7D1-D7FD-6194-E509-71A4FD169529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18536" b="20699"/>
          <a:stretch>
            <a:fillRect/>
          </a:stretch>
        </p:blipFill>
        <p:spPr>
          <a:xfrm>
            <a:off x="262988" y="5568151"/>
            <a:ext cx="2489210" cy="447372"/>
          </a:xfrm>
          <a:prstGeom prst="rect">
            <a:avLst/>
          </a:prstGeom>
        </p:spPr>
      </p:pic>
      <p:pic>
        <p:nvPicPr>
          <p:cNvPr id="105" name="图片 104">
            <a:extLst>
              <a:ext uri="{FF2B5EF4-FFF2-40B4-BE49-F238E27FC236}">
                <a16:creationId xmlns:a16="http://schemas.microsoft.com/office/drawing/2014/main" id="{54FE353D-DF5F-174A-AD45-A8FD13AA2CA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1374" y="5912060"/>
            <a:ext cx="1914593" cy="739299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7B2A48E5-BE95-3122-3EA6-5D0AD9FB22C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07978" y="6103569"/>
            <a:ext cx="1500219" cy="459744"/>
          </a:xfrm>
          <a:prstGeom prst="rect">
            <a:avLst/>
          </a:prstGeom>
          <a:ln w="31750">
            <a:solidFill>
              <a:schemeClr val="accent1">
                <a:lumMod val="75000"/>
              </a:schemeClr>
            </a:solidFill>
          </a:ln>
        </p:spPr>
      </p:pic>
      <p:sp>
        <p:nvSpPr>
          <p:cNvPr id="108" name="对话气泡: 矩形 107">
            <a:extLst>
              <a:ext uri="{FF2B5EF4-FFF2-40B4-BE49-F238E27FC236}">
                <a16:creationId xmlns:a16="http://schemas.microsoft.com/office/drawing/2014/main" id="{F9C1D8D0-B47E-06EC-0D73-928072A05EDC}"/>
              </a:ext>
            </a:extLst>
          </p:cNvPr>
          <p:cNvSpPr/>
          <p:nvPr/>
        </p:nvSpPr>
        <p:spPr>
          <a:xfrm>
            <a:off x="3998686" y="1001882"/>
            <a:ext cx="1685076" cy="928518"/>
          </a:xfrm>
          <a:prstGeom prst="wedgeRectCallout">
            <a:avLst>
              <a:gd name="adj1" fmla="val -63790"/>
              <a:gd name="adj2" fmla="val 384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如果不进行归并优化。。。</a:t>
            </a: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28C5D8EC-7B53-91F9-8AB6-6C1E5DCE6A72}"/>
              </a:ext>
            </a:extLst>
          </p:cNvPr>
          <p:cNvGrpSpPr/>
          <p:nvPr/>
        </p:nvGrpSpPr>
        <p:grpSpPr>
          <a:xfrm>
            <a:off x="5825829" y="1093435"/>
            <a:ext cx="3343596" cy="3280221"/>
            <a:chOff x="487616" y="1277189"/>
            <a:chExt cx="3343596" cy="3280221"/>
          </a:xfrm>
        </p:grpSpPr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32E58449-E588-BBF8-E78B-54914375515D}"/>
                </a:ext>
              </a:extLst>
            </p:cNvPr>
            <p:cNvSpPr/>
            <p:nvPr/>
          </p:nvSpPr>
          <p:spPr>
            <a:xfrm>
              <a:off x="2311614" y="18892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0814DEC0-721D-1143-58AB-CBE395551C6D}"/>
                </a:ext>
              </a:extLst>
            </p:cNvPr>
            <p:cNvSpPr/>
            <p:nvPr/>
          </p:nvSpPr>
          <p:spPr>
            <a:xfrm>
              <a:off x="2792787" y="31051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E90703C1-D197-91C1-63EA-41841959ECC0}"/>
                </a:ext>
              </a:extLst>
            </p:cNvPr>
            <p:cNvSpPr/>
            <p:nvPr/>
          </p:nvSpPr>
          <p:spPr>
            <a:xfrm>
              <a:off x="2883673" y="21546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D23E263D-79CE-5095-F1AD-E180DFC9B469}"/>
                </a:ext>
              </a:extLst>
            </p:cNvPr>
            <p:cNvSpPr/>
            <p:nvPr/>
          </p:nvSpPr>
          <p:spPr>
            <a:xfrm>
              <a:off x="2236054" y="272014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4B63DAC8-0E31-A73B-8177-7EAE4B8A954B}"/>
                </a:ext>
              </a:extLst>
            </p:cNvPr>
            <p:cNvSpPr/>
            <p:nvPr/>
          </p:nvSpPr>
          <p:spPr>
            <a:xfrm>
              <a:off x="2439680" y="386068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9D1B423C-1EC9-5293-50E2-1E7B136FFB65}"/>
                </a:ext>
              </a:extLst>
            </p:cNvPr>
            <p:cNvSpPr/>
            <p:nvPr/>
          </p:nvSpPr>
          <p:spPr>
            <a:xfrm>
              <a:off x="487616" y="331382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0C2BEFBC-EA56-B306-AE8F-5230B4E432AA}"/>
                </a:ext>
              </a:extLst>
            </p:cNvPr>
            <p:cNvSpPr/>
            <p:nvPr/>
          </p:nvSpPr>
          <p:spPr>
            <a:xfrm>
              <a:off x="1415143" y="358594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F479F94A-37D1-E700-4907-D2740617346F}"/>
                </a:ext>
              </a:extLst>
            </p:cNvPr>
            <p:cNvSpPr/>
            <p:nvPr/>
          </p:nvSpPr>
          <p:spPr>
            <a:xfrm>
              <a:off x="1146203" y="321392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5208B0E1-93F1-3555-0F2C-235D5A66CC40}"/>
                </a:ext>
              </a:extLst>
            </p:cNvPr>
            <p:cNvSpPr/>
            <p:nvPr/>
          </p:nvSpPr>
          <p:spPr>
            <a:xfrm>
              <a:off x="972390" y="38209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8A3219CA-66B5-7415-0FCA-021E4ED17A37}"/>
                </a:ext>
              </a:extLst>
            </p:cNvPr>
            <p:cNvSpPr/>
            <p:nvPr/>
          </p:nvSpPr>
          <p:spPr>
            <a:xfrm>
              <a:off x="1437556" y="437699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A46856C3-2FEF-9B83-27B3-FC41751E3B3F}"/>
                </a:ext>
              </a:extLst>
            </p:cNvPr>
            <p:cNvSpPr/>
            <p:nvPr/>
          </p:nvSpPr>
          <p:spPr>
            <a:xfrm>
              <a:off x="781410" y="20137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EB902114-77EE-9A3D-FF3C-AB25B01AE34D}"/>
                </a:ext>
              </a:extLst>
            </p:cNvPr>
            <p:cNvSpPr/>
            <p:nvPr/>
          </p:nvSpPr>
          <p:spPr>
            <a:xfrm>
              <a:off x="1706497" y="24711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EFE134BE-115C-BBED-010F-75F8EEF6369C}"/>
                </a:ext>
              </a:extLst>
            </p:cNvPr>
            <p:cNvSpPr/>
            <p:nvPr/>
          </p:nvSpPr>
          <p:spPr>
            <a:xfrm>
              <a:off x="1479297" y="174939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8F661AF3-A843-19F1-D489-5ED97B32AEE1}"/>
                </a:ext>
              </a:extLst>
            </p:cNvPr>
            <p:cNvSpPr/>
            <p:nvPr/>
          </p:nvSpPr>
          <p:spPr>
            <a:xfrm>
              <a:off x="781410" y="255530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217ED26B-F9D9-717A-89FC-39A68B9DA922}"/>
                </a:ext>
              </a:extLst>
            </p:cNvPr>
            <p:cNvSpPr/>
            <p:nvPr/>
          </p:nvSpPr>
          <p:spPr>
            <a:xfrm>
              <a:off x="1232809" y="257100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613EA229-98F7-AE5C-D4C6-EC4633FBE90A}"/>
                </a:ext>
              </a:extLst>
            </p:cNvPr>
            <p:cNvSpPr/>
            <p:nvPr/>
          </p:nvSpPr>
          <p:spPr>
            <a:xfrm>
              <a:off x="3677453" y="27094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25D9826A-3AC1-89D2-5FED-177677204065}"/>
                </a:ext>
              </a:extLst>
            </p:cNvPr>
            <p:cNvSpPr/>
            <p:nvPr/>
          </p:nvSpPr>
          <p:spPr>
            <a:xfrm>
              <a:off x="3754372" y="3361204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9FC18A25-DF28-F844-2B47-2D0631775D89}"/>
                </a:ext>
              </a:extLst>
            </p:cNvPr>
            <p:cNvSpPr/>
            <p:nvPr/>
          </p:nvSpPr>
          <p:spPr>
            <a:xfrm>
              <a:off x="2715947" y="445751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E3CDDA75-9530-F26C-AB98-4F8889727D16}"/>
                </a:ext>
              </a:extLst>
            </p:cNvPr>
            <p:cNvSpPr/>
            <p:nvPr/>
          </p:nvSpPr>
          <p:spPr>
            <a:xfrm>
              <a:off x="2184008" y="435762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F9C500A0-D079-8C39-F157-8BF9C90DC771}"/>
                </a:ext>
              </a:extLst>
            </p:cNvPr>
            <p:cNvSpPr/>
            <p:nvPr/>
          </p:nvSpPr>
          <p:spPr>
            <a:xfrm>
              <a:off x="3153016" y="42114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D344F557-E363-9281-3C8D-EEB3C7E39E51}"/>
                </a:ext>
              </a:extLst>
            </p:cNvPr>
            <p:cNvSpPr txBox="1"/>
            <p:nvPr/>
          </p:nvSpPr>
          <p:spPr>
            <a:xfrm>
              <a:off x="1529123" y="2302117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P</a:t>
              </a:r>
              <a:endParaRPr lang="zh-CN" altLang="en-US" sz="1200" b="1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B89D975B-58A0-A91E-90A0-8FAE01837BBF}"/>
                </a:ext>
              </a:extLst>
            </p:cNvPr>
            <p:cNvSpPr txBox="1"/>
            <p:nvPr/>
          </p:nvSpPr>
          <p:spPr>
            <a:xfrm>
              <a:off x="2336963" y="173679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S</a:t>
              </a:r>
              <a:endParaRPr lang="zh-CN" altLang="en-US" sz="1200" b="1" dirty="0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E4D3718D-F1F1-67DA-1B27-9E195A834181}"/>
                </a:ext>
              </a:extLst>
            </p:cNvPr>
            <p:cNvSpPr txBox="1"/>
            <p:nvPr/>
          </p:nvSpPr>
          <p:spPr>
            <a:xfrm>
              <a:off x="1998204" y="253233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N</a:t>
              </a:r>
              <a:endParaRPr lang="zh-CN" altLang="en-US" sz="1200" b="1" dirty="0"/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id="{090ED48D-A1F1-4B9B-FA0C-47928C378B7D}"/>
                </a:ext>
              </a:extLst>
            </p:cNvPr>
            <p:cNvSpPr txBox="1"/>
            <p:nvPr/>
          </p:nvSpPr>
          <p:spPr>
            <a:xfrm>
              <a:off x="726928" y="1302162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L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A55415DD-557B-5544-AAB1-B0FE34939B80}"/>
                </a:ext>
              </a:extLst>
            </p:cNvPr>
            <p:cNvSpPr txBox="1"/>
            <p:nvPr/>
          </p:nvSpPr>
          <p:spPr>
            <a:xfrm>
              <a:off x="3153016" y="1277189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R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C1D77CA5-F676-9497-CBDF-852D95F8266E}"/>
              </a:ext>
            </a:extLst>
          </p:cNvPr>
          <p:cNvCxnSpPr/>
          <p:nvPr/>
        </p:nvCxnSpPr>
        <p:spPr>
          <a:xfrm>
            <a:off x="7339405" y="1379786"/>
            <a:ext cx="0" cy="3065929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>
            <a:extLst>
              <a:ext uri="{FF2B5EF4-FFF2-40B4-BE49-F238E27FC236}">
                <a16:creationId xmlns:a16="http://schemas.microsoft.com/office/drawing/2014/main" id="{56E5E524-EA30-1DBD-F550-9CBDC32EB2F3}"/>
              </a:ext>
            </a:extLst>
          </p:cNvPr>
          <p:cNvSpPr/>
          <p:nvPr/>
        </p:nvSpPr>
        <p:spPr>
          <a:xfrm>
            <a:off x="5752103" y="1016179"/>
            <a:ext cx="3431272" cy="367131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910C6DE1-E96D-28E5-9445-1F117F4FDA04}"/>
              </a:ext>
            </a:extLst>
          </p:cNvPr>
          <p:cNvSpPr txBox="1"/>
          <p:nvPr/>
        </p:nvSpPr>
        <p:spPr>
          <a:xfrm>
            <a:off x="6747834" y="1282456"/>
            <a:ext cx="262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G</a:t>
            </a:r>
            <a:endParaRPr lang="zh-CN" altLang="en-US" sz="1200" b="1" dirty="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55D832A9-9D27-B8C6-05B6-3D47158394ED}"/>
              </a:ext>
            </a:extLst>
          </p:cNvPr>
          <p:cNvSpPr/>
          <p:nvPr/>
        </p:nvSpPr>
        <p:spPr>
          <a:xfrm>
            <a:off x="6852609" y="1589856"/>
            <a:ext cx="731772" cy="1507186"/>
          </a:xfrm>
          <a:prstGeom prst="rect">
            <a:avLst/>
          </a:prstGeom>
          <a:noFill/>
          <a:ln w="2222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箭头: 右 139">
            <a:extLst>
              <a:ext uri="{FF2B5EF4-FFF2-40B4-BE49-F238E27FC236}">
                <a16:creationId xmlns:a16="http://schemas.microsoft.com/office/drawing/2014/main" id="{C95B12B8-96C0-1ABD-7E9F-5DDFBBB88AFF}"/>
              </a:ext>
            </a:extLst>
          </p:cNvPr>
          <p:cNvSpPr/>
          <p:nvPr/>
        </p:nvSpPr>
        <p:spPr>
          <a:xfrm>
            <a:off x="4839958" y="2541527"/>
            <a:ext cx="843804" cy="5297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3D2545DA-C81B-87FD-44FF-29BFB7A8DB0C}"/>
                  </a:ext>
                </a:extLst>
              </p:cNvPr>
              <p:cNvSpPr txBox="1"/>
              <p:nvPr/>
            </p:nvSpPr>
            <p:spPr>
              <a:xfrm>
                <a:off x="9183374" y="1396264"/>
                <a:ext cx="2628084" cy="14787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  优化后，我们不再需要对条带内的点两两蛮力求解。只需要检索方框内最多</a:t>
                </a:r>
                <a:r>
                  <a:rPr lang="en-US" altLang="zh-CN" dirty="0"/>
                  <a:t>6</a:t>
                </a:r>
                <a:r>
                  <a:rPr lang="zh-CN" altLang="en-US" dirty="0"/>
                  <a:t>个点，一下就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变成了</m:t>
                    </m:r>
                  </m:oMath>
                </a14:m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常数级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3D2545DA-C81B-87FD-44FF-29BFB7A8D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74" y="1396264"/>
                <a:ext cx="2628084" cy="1478738"/>
              </a:xfrm>
              <a:prstGeom prst="rect">
                <a:avLst/>
              </a:prstGeom>
              <a:blipFill>
                <a:blip r:embed="rId28"/>
                <a:stretch>
                  <a:fillRect l="-1852" t="-2058" r="-1620" b="-5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" name="图片 142">
            <a:extLst>
              <a:ext uri="{FF2B5EF4-FFF2-40B4-BE49-F238E27FC236}">
                <a16:creationId xmlns:a16="http://schemas.microsoft.com/office/drawing/2014/main" id="{999DB998-95A9-03FB-FD83-A4DA915ABB3C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t="19222" b="12222"/>
          <a:stretch>
            <a:fillRect/>
          </a:stretch>
        </p:blipFill>
        <p:spPr>
          <a:xfrm>
            <a:off x="5670649" y="4821580"/>
            <a:ext cx="3512725" cy="691284"/>
          </a:xfrm>
          <a:prstGeom prst="rect">
            <a:avLst/>
          </a:prstGeom>
        </p:spPr>
      </p:pic>
      <p:pic>
        <p:nvPicPr>
          <p:cNvPr id="145" name="图片 144">
            <a:extLst>
              <a:ext uri="{FF2B5EF4-FFF2-40B4-BE49-F238E27FC236}">
                <a16:creationId xmlns:a16="http://schemas.microsoft.com/office/drawing/2014/main" id="{843228B0-9D47-F826-339E-E21419A306CC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t="23364" b="24980"/>
          <a:stretch>
            <a:fillRect/>
          </a:stretch>
        </p:blipFill>
        <p:spPr>
          <a:xfrm>
            <a:off x="5683762" y="5537947"/>
            <a:ext cx="2643776" cy="357087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B306FD2D-F5FD-2050-5102-DAA0BB39928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97547" y="5340200"/>
            <a:ext cx="1686160" cy="752580"/>
          </a:xfrm>
          <a:prstGeom prst="rect">
            <a:avLst/>
          </a:prstGeom>
          <a:ln w="22225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720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21143-7247-EA76-45F6-6CC37D1F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3" y="790940"/>
            <a:ext cx="4180558" cy="1325563"/>
          </a:xfrm>
        </p:spPr>
        <p:txBody>
          <a:bodyPr/>
          <a:lstStyle/>
          <a:p>
            <a:r>
              <a:rPr lang="zh-CN" altLang="en-US" dirty="0"/>
              <a:t>分治法实验结果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AED6E-F93E-342C-C4AD-E81AE000E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5</a:t>
            </a:fld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B28761-C9C4-826F-EFFC-8B015C9D1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3" y="3523254"/>
            <a:ext cx="5367711" cy="3187078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A66EDB-F3EA-C21E-7FAA-3A3703213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92208"/>
            <a:ext cx="5601478" cy="3258086"/>
          </a:xfrm>
          <a:prstGeom prst="rect">
            <a:avLst/>
          </a:prstGeom>
          <a:ln>
            <a:solidFill>
              <a:schemeClr val="tx2"/>
            </a:solidFill>
          </a:ln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ADB2D2A-A14E-FD86-585F-AAEC42D2C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97940"/>
              </p:ext>
            </p:extLst>
          </p:nvPr>
        </p:nvGraphicFramePr>
        <p:xfrm>
          <a:off x="5794894" y="3405418"/>
          <a:ext cx="5708258" cy="342274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96374">
                  <a:extLst>
                    <a:ext uri="{9D8B030D-6E8A-4147-A177-3AD203B41FA5}">
                      <a16:colId xmlns:a16="http://schemas.microsoft.com/office/drawing/2014/main" val="3972282257"/>
                    </a:ext>
                  </a:extLst>
                </a:gridCol>
                <a:gridCol w="2205942">
                  <a:extLst>
                    <a:ext uri="{9D8B030D-6E8A-4147-A177-3AD203B41FA5}">
                      <a16:colId xmlns:a16="http://schemas.microsoft.com/office/drawing/2014/main" val="1789515511"/>
                    </a:ext>
                  </a:extLst>
                </a:gridCol>
                <a:gridCol w="2205942">
                  <a:extLst>
                    <a:ext uri="{9D8B030D-6E8A-4147-A177-3AD203B41FA5}">
                      <a16:colId xmlns:a16="http://schemas.microsoft.com/office/drawing/2014/main" val="1826042857"/>
                    </a:ext>
                  </a:extLst>
                </a:gridCol>
              </a:tblGrid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N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zh-CN" sz="1800" kern="0">
                          <a:effectLst/>
                        </a:rPr>
                        <a:t>理论时间</a:t>
                      </a:r>
                      <a:r>
                        <a:rPr lang="en-US" sz="1800" kern="0">
                          <a:effectLst/>
                        </a:rPr>
                        <a:t>(ms)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zh-CN" sz="1800" kern="0">
                          <a:effectLst/>
                        </a:rPr>
                        <a:t>实验时间</a:t>
                      </a:r>
                      <a:r>
                        <a:rPr lang="en-US" sz="1800" kern="0">
                          <a:effectLst/>
                        </a:rPr>
                        <a:t>(ms)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537407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47.001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47.001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1603471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99.162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99.158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3692501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154.247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156.109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2124726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211.487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210.273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6039734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500000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270.410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272.191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3790255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600000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330.721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330.903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4508266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700000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392.234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388.255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3623344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800000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454.820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450.530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8178570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900000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518.383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526.524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04218140"/>
                  </a:ext>
                </a:extLst>
              </a:tr>
              <a:tr h="3111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1000000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582.845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593.493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665639"/>
                  </a:ext>
                </a:extLst>
              </a:tr>
            </a:tbl>
          </a:graphicData>
        </a:graphic>
      </p:graphicFrame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6B958D6D-47BC-F8F6-1C5B-86F47F10FDE4}"/>
              </a:ext>
            </a:extLst>
          </p:cNvPr>
          <p:cNvSpPr/>
          <p:nvPr/>
        </p:nvSpPr>
        <p:spPr>
          <a:xfrm>
            <a:off x="522513" y="2558783"/>
            <a:ext cx="1890273" cy="599355"/>
          </a:xfrm>
          <a:prstGeom prst="wedgeRectCallout">
            <a:avLst>
              <a:gd name="adj1" fmla="val -33435"/>
              <a:gd name="adj2" fmla="val 958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分治法动画演示</a:t>
            </a:r>
          </a:p>
        </p:txBody>
      </p:sp>
    </p:spTree>
    <p:extLst>
      <p:ext uri="{BB962C8B-B14F-4D97-AF65-F5344CB8AC3E}">
        <p14:creationId xmlns:p14="http://schemas.microsoft.com/office/powerpoint/2010/main" val="172293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D0C37-CFB8-4CB5-3644-F38F7501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DD2B8-68A5-A006-B71E-EC4EC6511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37" y="239397"/>
            <a:ext cx="4180558" cy="1325563"/>
          </a:xfrm>
        </p:spPr>
        <p:txBody>
          <a:bodyPr/>
          <a:lstStyle/>
          <a:p>
            <a:r>
              <a:rPr lang="zh-CN" altLang="en-US" dirty="0"/>
              <a:t>蛮力法实验结果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D9F1A5-2F0D-30DE-727A-9025E14ED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6</a:t>
            </a:fld>
            <a:endParaRPr lang="zh-CN" dirty="0"/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8B31AA1A-6C78-7F8C-9DB6-2CE120783783}"/>
              </a:ext>
            </a:extLst>
          </p:cNvPr>
          <p:cNvSpPr/>
          <p:nvPr/>
        </p:nvSpPr>
        <p:spPr>
          <a:xfrm>
            <a:off x="1298379" y="2466574"/>
            <a:ext cx="1890273" cy="599355"/>
          </a:xfrm>
          <a:prstGeom prst="wedgeRectCallout">
            <a:avLst>
              <a:gd name="adj1" fmla="val -33435"/>
              <a:gd name="adj2" fmla="val 958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蛮力法动画演示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D220F1-7D41-B55A-544A-C9F63DB99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80" y="3337832"/>
            <a:ext cx="5232828" cy="3520167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A18CDCC-7E7E-0222-80F4-E1AF95DC0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72"/>
          <a:stretch>
            <a:fillRect/>
          </a:stretch>
        </p:blipFill>
        <p:spPr>
          <a:xfrm>
            <a:off x="343894" y="3429000"/>
            <a:ext cx="5592449" cy="3307184"/>
          </a:xfrm>
          <a:prstGeom prst="rect">
            <a:avLst/>
          </a:prstGeom>
          <a:ln w="41275">
            <a:solidFill>
              <a:schemeClr val="tx2"/>
            </a:solidFill>
          </a:ln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69A6FB9-998B-4B9F-7108-BB9093198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513152"/>
              </p:ext>
            </p:extLst>
          </p:nvPr>
        </p:nvGraphicFramePr>
        <p:xfrm>
          <a:off x="4794991" y="130692"/>
          <a:ext cx="6708161" cy="312815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281926">
                  <a:extLst>
                    <a:ext uri="{9D8B030D-6E8A-4147-A177-3AD203B41FA5}">
                      <a16:colId xmlns:a16="http://schemas.microsoft.com/office/drawing/2014/main" val="2059585418"/>
                    </a:ext>
                  </a:extLst>
                </a:gridCol>
                <a:gridCol w="2179860">
                  <a:extLst>
                    <a:ext uri="{9D8B030D-6E8A-4147-A177-3AD203B41FA5}">
                      <a16:colId xmlns:a16="http://schemas.microsoft.com/office/drawing/2014/main" val="3353917734"/>
                    </a:ext>
                  </a:extLst>
                </a:gridCol>
                <a:gridCol w="3246375">
                  <a:extLst>
                    <a:ext uri="{9D8B030D-6E8A-4147-A177-3AD203B41FA5}">
                      <a16:colId xmlns:a16="http://schemas.microsoft.com/office/drawing/2014/main" val="582896663"/>
                    </a:ext>
                  </a:extLst>
                </a:gridCol>
              </a:tblGrid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zh-CN" sz="1800" kern="0">
                          <a:effectLst/>
                        </a:rPr>
                        <a:t>理论时间</a:t>
                      </a:r>
                      <a:r>
                        <a:rPr lang="en-US" sz="1800" kern="0">
                          <a:effectLst/>
                        </a:rPr>
                        <a:t>(ms)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zh-CN" sz="1800" kern="0">
                          <a:effectLst/>
                        </a:rPr>
                        <a:t>实验时间</a:t>
                      </a:r>
                      <a:r>
                        <a:rPr lang="en-US" sz="1800" kern="0">
                          <a:effectLst/>
                        </a:rPr>
                        <a:t>(ms)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031827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4171.073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4171.073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8336593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16684.292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16633.123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7872276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37539.657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35043.234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1864470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400000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66737.168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67480.512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4417968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500000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104276.825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122936.784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4868343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600000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150158.628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168927.365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3111306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700000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204382.577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231845.918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4278844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800000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266948.672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302774.431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1769674"/>
                  </a:ext>
                </a:extLst>
              </a:tr>
              <a:tr h="25564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900000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337856.913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364692.587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9047293"/>
                  </a:ext>
                </a:extLst>
              </a:tr>
              <a:tr h="384959"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>
                          <a:effectLst/>
                        </a:rPr>
                        <a:t>1000000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417107.300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ctr">
                        <a:buNone/>
                      </a:pPr>
                      <a:r>
                        <a:rPr lang="en-US" sz="1800" kern="0" dirty="0">
                          <a:effectLst/>
                        </a:rPr>
                        <a:t>452538.206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9866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017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62C8-10EF-F6EF-6FCD-5680B5318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EE70D-DD1B-B30A-1207-FA888404E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37" y="239397"/>
            <a:ext cx="9205916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蛮力法与分治法实验结果对比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315AF-93CC-3EDC-0E16-AE4447AC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7</a:t>
            </a:fld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CE28D3-9316-37C0-1E85-2CE94484B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37" y="1564960"/>
            <a:ext cx="5942763" cy="41605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24A6D0-F2D0-4FD7-4D4D-35AD898C1A78}"/>
              </a:ext>
            </a:extLst>
          </p:cNvPr>
          <p:cNvSpPr txBox="1"/>
          <p:nvPr/>
        </p:nvSpPr>
        <p:spPr>
          <a:xfrm>
            <a:off x="6892578" y="1844168"/>
            <a:ext cx="355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蛮力法当数据规模超过</a:t>
            </a:r>
            <a:r>
              <a:rPr lang="en-US" altLang="zh-CN" dirty="0"/>
              <a:t>300000</a:t>
            </a:r>
            <a:r>
              <a:rPr lang="zh-CN" altLang="en-US" dirty="0"/>
              <a:t>时，几乎跑不动。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4E1B06-5E4C-83D9-9750-9E8EF5EEC508}"/>
              </a:ext>
            </a:extLst>
          </p:cNvPr>
          <p:cNvSpPr txBox="1"/>
          <p:nvPr/>
        </p:nvSpPr>
        <p:spPr>
          <a:xfrm>
            <a:off x="6892578" y="2967335"/>
            <a:ext cx="3557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分治法虽然存在轻微波动，但整体来看依旧是正常的曲线走势，并且</a:t>
            </a:r>
            <a:r>
              <a:rPr lang="zh-CN" altLang="zh-CN" dirty="0"/>
              <a:t>保持较好的运行效率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26899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5B48D-8FA9-8FB0-0440-A5C5D714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2E436-CC7B-BAE5-10B4-0F28EF066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66" y="-256194"/>
            <a:ext cx="10661904" cy="1325563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优化</a:t>
            </a:r>
            <a:r>
              <a:rPr lang="en-US" altLang="zh-CN" sz="4000" dirty="0"/>
              <a:t>---</a:t>
            </a:r>
            <a:r>
              <a:rPr lang="zh-CN" altLang="en-US" sz="4000" dirty="0"/>
              <a:t>蛮力法与分治法的阈值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6633C1D-0B74-28FD-E496-ED162B81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8</a:t>
            </a:fld>
            <a:endParaRPr 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768AB6-BB00-5BD3-9771-1EE4A6B460D3}"/>
              </a:ext>
            </a:extLst>
          </p:cNvPr>
          <p:cNvSpPr txBox="1"/>
          <p:nvPr/>
        </p:nvSpPr>
        <p:spPr>
          <a:xfrm>
            <a:off x="377372" y="943429"/>
            <a:ext cx="876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</a:t>
            </a:r>
            <a:r>
              <a:rPr lang="en-US" altLang="zh-CN" dirty="0"/>
              <a:t>N</a:t>
            </a:r>
            <a:r>
              <a:rPr lang="zh-CN" altLang="en-US" dirty="0"/>
              <a:t>的规模不断减小时，会不会出现一个情况，蛮力法要快于分治法？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2F4B0A-56F7-FEE4-B642-024FF77E61ED}"/>
              </a:ext>
            </a:extLst>
          </p:cNvPr>
          <p:cNvSpPr txBox="1"/>
          <p:nvPr/>
        </p:nvSpPr>
        <p:spPr>
          <a:xfrm>
            <a:off x="377372" y="5617029"/>
            <a:ext cx="8766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因此我们可以进一步优化。例如说当</a:t>
            </a:r>
            <a:r>
              <a:rPr lang="en-US" altLang="zh-CN" dirty="0"/>
              <a:t>N</a:t>
            </a:r>
            <a:r>
              <a:rPr lang="zh-CN" altLang="en-US" dirty="0"/>
              <a:t>下降到</a:t>
            </a:r>
            <a:r>
              <a:rPr lang="en-US" altLang="zh-CN" dirty="0"/>
              <a:t>700~800</a:t>
            </a:r>
            <a:r>
              <a:rPr lang="zh-CN" altLang="en-US" dirty="0"/>
              <a:t>时，我们可以切换为蛮力法。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3E4D230B-4330-D7A6-1AFC-D2A263383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555867"/>
              </p:ext>
            </p:extLst>
          </p:nvPr>
        </p:nvGraphicFramePr>
        <p:xfrm>
          <a:off x="5871029" y="1575583"/>
          <a:ext cx="5975024" cy="3566160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493756">
                  <a:extLst>
                    <a:ext uri="{9D8B030D-6E8A-4147-A177-3AD203B41FA5}">
                      <a16:colId xmlns:a16="http://schemas.microsoft.com/office/drawing/2014/main" val="1416451749"/>
                    </a:ext>
                  </a:extLst>
                </a:gridCol>
                <a:gridCol w="1493756">
                  <a:extLst>
                    <a:ext uri="{9D8B030D-6E8A-4147-A177-3AD203B41FA5}">
                      <a16:colId xmlns:a16="http://schemas.microsoft.com/office/drawing/2014/main" val="1805923212"/>
                    </a:ext>
                  </a:extLst>
                </a:gridCol>
                <a:gridCol w="1493756">
                  <a:extLst>
                    <a:ext uri="{9D8B030D-6E8A-4147-A177-3AD203B41FA5}">
                      <a16:colId xmlns:a16="http://schemas.microsoft.com/office/drawing/2014/main" val="3873961379"/>
                    </a:ext>
                  </a:extLst>
                </a:gridCol>
                <a:gridCol w="1493756">
                  <a:extLst>
                    <a:ext uri="{9D8B030D-6E8A-4147-A177-3AD203B41FA5}">
                      <a16:colId xmlns:a16="http://schemas.microsoft.com/office/drawing/2014/main" val="3692288715"/>
                    </a:ext>
                  </a:extLst>
                </a:gridCol>
              </a:tblGrid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蛮力法时间</a:t>
                      </a:r>
                      <a:r>
                        <a:rPr lang="en-US" altLang="zh-CN"/>
                        <a:t>(</a:t>
                      </a:r>
                      <a:r>
                        <a:rPr lang="en-US"/>
                        <a:t>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分治法时间</a:t>
                      </a:r>
                      <a:r>
                        <a:rPr lang="en-US" altLang="zh-CN"/>
                        <a:t>(</a:t>
                      </a:r>
                      <a:r>
                        <a:rPr lang="en-US"/>
                        <a:t>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更快算法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9669422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0.0130591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0.0376171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BruteForce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1481092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0.0283470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0.0552902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BruteForce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182785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0.0475372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0.0826384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BruteForce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647901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0.0805642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0.0882368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BruteForce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493372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0.1068820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/>
                        <a:t>0.1261870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BruteForce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373463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0.1410100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0.1614440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BruteForce</a:t>
                      </a:r>
                      <a:endParaRPr lang="en-US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843069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0.1843460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0.1640990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分治</a:t>
                      </a:r>
                      <a:endParaRPr lang="en-US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2934500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0.2314560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0.1793150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分治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0876284"/>
                  </a:ext>
                </a:extLst>
              </a:tr>
            </a:tbl>
          </a:graphicData>
        </a:graphic>
      </p:graphicFrame>
      <p:pic>
        <p:nvPicPr>
          <p:cNvPr id="3074" name="Picture 2" descr="绘图输出">
            <a:extLst>
              <a:ext uri="{FF2B5EF4-FFF2-40B4-BE49-F238E27FC236}">
                <a16:creationId xmlns:a16="http://schemas.microsoft.com/office/drawing/2014/main" id="{B8F7E661-9C80-E051-F394-EBDC82F37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8" y="1312761"/>
            <a:ext cx="5414501" cy="4060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5331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204C2-A66D-615E-C23B-01EE3769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0BBB93-C7C7-ABA7-E0DD-AAE6C045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49" y="-75649"/>
            <a:ext cx="9205916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分治法小优化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6A7A1A-0571-EDE5-C301-17BD98126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3A4F6043-7A67-491B-98BC-F933DED7226D}" type="slidenum">
              <a:rPr lang="en-US" altLang="zh-CN" smtClean="0"/>
              <a:pPr rtl="0"/>
              <a:t>9</a:t>
            </a:fld>
            <a:endParaRPr lang="zh-CN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30EC0A-7CC6-B1C0-7B75-CDEBD07A9FCB}"/>
              </a:ext>
            </a:extLst>
          </p:cNvPr>
          <p:cNvCxnSpPr/>
          <p:nvPr/>
        </p:nvCxnSpPr>
        <p:spPr>
          <a:xfrm>
            <a:off x="1882588" y="1767328"/>
            <a:ext cx="0" cy="3065929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37E1BBC-59C5-44B2-7017-05F9294A1475}"/>
              </a:ext>
            </a:extLst>
          </p:cNvPr>
          <p:cNvGrpSpPr/>
          <p:nvPr/>
        </p:nvGrpSpPr>
        <p:grpSpPr>
          <a:xfrm>
            <a:off x="487616" y="1277189"/>
            <a:ext cx="3343596" cy="3280221"/>
            <a:chOff x="487616" y="1277189"/>
            <a:chExt cx="3343596" cy="3280221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96630DF-53FC-4CEA-D255-924555C9D8D2}"/>
                </a:ext>
              </a:extLst>
            </p:cNvPr>
            <p:cNvSpPr/>
            <p:nvPr/>
          </p:nvSpPr>
          <p:spPr>
            <a:xfrm>
              <a:off x="2311614" y="18892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6E7C00A-F5D2-39BA-CA30-C4DF2866D74F}"/>
                </a:ext>
              </a:extLst>
            </p:cNvPr>
            <p:cNvSpPr/>
            <p:nvPr/>
          </p:nvSpPr>
          <p:spPr>
            <a:xfrm>
              <a:off x="2792787" y="31051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0830EC-F7DC-41B0-4DAF-627E1AB259F5}"/>
                </a:ext>
              </a:extLst>
            </p:cNvPr>
            <p:cNvSpPr/>
            <p:nvPr/>
          </p:nvSpPr>
          <p:spPr>
            <a:xfrm>
              <a:off x="2883673" y="21546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1587A40-76EC-347D-9E4D-15BEAFEFF6AE}"/>
                </a:ext>
              </a:extLst>
            </p:cNvPr>
            <p:cNvSpPr/>
            <p:nvPr/>
          </p:nvSpPr>
          <p:spPr>
            <a:xfrm>
              <a:off x="2236054" y="272014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F1DE4CC-974D-C828-3BF6-D8661819ED1C}"/>
                </a:ext>
              </a:extLst>
            </p:cNvPr>
            <p:cNvSpPr/>
            <p:nvPr/>
          </p:nvSpPr>
          <p:spPr>
            <a:xfrm>
              <a:off x="2439680" y="386068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8670157-B532-6953-BD8A-67AE77649B11}"/>
                </a:ext>
              </a:extLst>
            </p:cNvPr>
            <p:cNvSpPr/>
            <p:nvPr/>
          </p:nvSpPr>
          <p:spPr>
            <a:xfrm>
              <a:off x="487616" y="331382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9BD0477-196D-D9BA-8E98-24AF09C57FC5}"/>
                </a:ext>
              </a:extLst>
            </p:cNvPr>
            <p:cNvSpPr/>
            <p:nvPr/>
          </p:nvSpPr>
          <p:spPr>
            <a:xfrm>
              <a:off x="1415143" y="358594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8D6F19D-B837-96D3-80AF-EED1FF9F6796}"/>
                </a:ext>
              </a:extLst>
            </p:cNvPr>
            <p:cNvSpPr/>
            <p:nvPr/>
          </p:nvSpPr>
          <p:spPr>
            <a:xfrm>
              <a:off x="1146203" y="321392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B3282D1-83A4-7F4D-018C-34AB02F82487}"/>
                </a:ext>
              </a:extLst>
            </p:cNvPr>
            <p:cNvSpPr/>
            <p:nvPr/>
          </p:nvSpPr>
          <p:spPr>
            <a:xfrm>
              <a:off x="972390" y="38209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1E8B20C-CD33-40E1-7E42-A807B18A3F06}"/>
                </a:ext>
              </a:extLst>
            </p:cNvPr>
            <p:cNvSpPr/>
            <p:nvPr/>
          </p:nvSpPr>
          <p:spPr>
            <a:xfrm>
              <a:off x="1437556" y="437699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934D9F44-5B89-48D0-83F7-F55C27C0DC8B}"/>
                </a:ext>
              </a:extLst>
            </p:cNvPr>
            <p:cNvSpPr/>
            <p:nvPr/>
          </p:nvSpPr>
          <p:spPr>
            <a:xfrm>
              <a:off x="781410" y="20137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B759332-152D-6F9F-301C-00E2A962F32A}"/>
                </a:ext>
              </a:extLst>
            </p:cNvPr>
            <p:cNvSpPr/>
            <p:nvPr/>
          </p:nvSpPr>
          <p:spPr>
            <a:xfrm>
              <a:off x="1706497" y="24711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81190C6-C2CE-1227-8CA4-2D5BAE076593}"/>
                </a:ext>
              </a:extLst>
            </p:cNvPr>
            <p:cNvSpPr/>
            <p:nvPr/>
          </p:nvSpPr>
          <p:spPr>
            <a:xfrm>
              <a:off x="1479297" y="174939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9BFA9BF-5BB2-20A0-6B03-77B787BB89BB}"/>
                </a:ext>
              </a:extLst>
            </p:cNvPr>
            <p:cNvSpPr/>
            <p:nvPr/>
          </p:nvSpPr>
          <p:spPr>
            <a:xfrm>
              <a:off x="781410" y="255530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640190B-D79C-CD87-95E2-F517FF5EE26A}"/>
                </a:ext>
              </a:extLst>
            </p:cNvPr>
            <p:cNvSpPr/>
            <p:nvPr/>
          </p:nvSpPr>
          <p:spPr>
            <a:xfrm>
              <a:off x="1232809" y="257100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D3000593-1A72-DCB0-F1EC-B8320467506A}"/>
                </a:ext>
              </a:extLst>
            </p:cNvPr>
            <p:cNvSpPr/>
            <p:nvPr/>
          </p:nvSpPr>
          <p:spPr>
            <a:xfrm>
              <a:off x="3677453" y="27094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7D6BE17-9FD2-C294-4902-1E50FF1EF022}"/>
                </a:ext>
              </a:extLst>
            </p:cNvPr>
            <p:cNvSpPr/>
            <p:nvPr/>
          </p:nvSpPr>
          <p:spPr>
            <a:xfrm>
              <a:off x="3754372" y="3361204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07985CCF-681E-00B4-9BAA-80158CC6554D}"/>
                </a:ext>
              </a:extLst>
            </p:cNvPr>
            <p:cNvSpPr/>
            <p:nvPr/>
          </p:nvSpPr>
          <p:spPr>
            <a:xfrm>
              <a:off x="2715947" y="445751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12C7A76-0661-E4F7-D608-A1EF6BD97616}"/>
                </a:ext>
              </a:extLst>
            </p:cNvPr>
            <p:cNvSpPr/>
            <p:nvPr/>
          </p:nvSpPr>
          <p:spPr>
            <a:xfrm>
              <a:off x="2184008" y="435762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376EEEAC-06FA-10D1-17BA-FB9E2BDEE137}"/>
                </a:ext>
              </a:extLst>
            </p:cNvPr>
            <p:cNvSpPr/>
            <p:nvPr/>
          </p:nvSpPr>
          <p:spPr>
            <a:xfrm>
              <a:off x="3153016" y="42114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370CFB8-15B8-72E8-9422-249D26FCD549}"/>
                </a:ext>
              </a:extLst>
            </p:cNvPr>
            <p:cNvSpPr/>
            <p:nvPr/>
          </p:nvSpPr>
          <p:spPr>
            <a:xfrm>
              <a:off x="1744219" y="1939185"/>
              <a:ext cx="678656" cy="1128955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2E22065-385D-E426-7202-3C3FB7DA2971}"/>
                </a:ext>
              </a:extLst>
            </p:cNvPr>
            <p:cNvSpPr/>
            <p:nvPr/>
          </p:nvSpPr>
          <p:spPr>
            <a:xfrm>
              <a:off x="1601401" y="2205615"/>
              <a:ext cx="678656" cy="1128955"/>
            </a:xfrm>
            <a:prstGeom prst="rect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64CCD48-02F0-BE19-3DFA-1D34D83E4477}"/>
                </a:ext>
              </a:extLst>
            </p:cNvPr>
            <p:cNvSpPr txBox="1"/>
            <p:nvPr/>
          </p:nvSpPr>
          <p:spPr>
            <a:xfrm>
              <a:off x="1529123" y="2302117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P</a:t>
              </a:r>
              <a:endParaRPr lang="zh-CN" altLang="en-US" sz="1200" b="1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DD26FBE-E6B4-0CD1-7989-1FB04CD1D208}"/>
                </a:ext>
              </a:extLst>
            </p:cNvPr>
            <p:cNvSpPr txBox="1"/>
            <p:nvPr/>
          </p:nvSpPr>
          <p:spPr>
            <a:xfrm>
              <a:off x="2336963" y="173679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S</a:t>
              </a:r>
              <a:endParaRPr lang="zh-CN" altLang="en-US" sz="1200" b="1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B773EB6-0239-2248-5049-B2677A1C5C8B}"/>
                </a:ext>
              </a:extLst>
            </p:cNvPr>
            <p:cNvSpPr txBox="1"/>
            <p:nvPr/>
          </p:nvSpPr>
          <p:spPr>
            <a:xfrm>
              <a:off x="1998204" y="253233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N</a:t>
              </a:r>
              <a:endParaRPr lang="zh-CN" altLang="en-US" sz="1200" b="1" dirty="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D21DC5A-5835-3230-6188-F3AA2A127A81}"/>
                </a:ext>
              </a:extLst>
            </p:cNvPr>
            <p:cNvSpPr txBox="1"/>
            <p:nvPr/>
          </p:nvSpPr>
          <p:spPr>
            <a:xfrm>
              <a:off x="726928" y="1302162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L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FB89364-9AE8-D874-CF01-6AA9464386C9}"/>
                </a:ext>
              </a:extLst>
            </p:cNvPr>
            <p:cNvSpPr txBox="1"/>
            <p:nvPr/>
          </p:nvSpPr>
          <p:spPr>
            <a:xfrm>
              <a:off x="3153016" y="1277189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R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765A2FC4-4BDA-AE4B-FB31-E9702E2B1595}"/>
              </a:ext>
            </a:extLst>
          </p:cNvPr>
          <p:cNvSpPr/>
          <p:nvPr/>
        </p:nvSpPr>
        <p:spPr>
          <a:xfrm>
            <a:off x="99449" y="1210166"/>
            <a:ext cx="3818399" cy="367131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0E66701-D409-AFC6-2D29-AA432A85B2C5}"/>
              </a:ext>
            </a:extLst>
          </p:cNvPr>
          <p:cNvSpPr txBox="1"/>
          <p:nvPr/>
        </p:nvSpPr>
        <p:spPr>
          <a:xfrm>
            <a:off x="288260" y="5067926"/>
            <a:ext cx="3629588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蓝框：以</a:t>
            </a:r>
            <a:r>
              <a:rPr lang="en-US" altLang="zh-CN" dirty="0"/>
              <a:t>P</a:t>
            </a:r>
            <a:r>
              <a:rPr lang="zh-CN" altLang="en-US" dirty="0"/>
              <a:t>为对象</a:t>
            </a:r>
            <a:endParaRPr lang="en-US" altLang="zh-CN" dirty="0"/>
          </a:p>
          <a:p>
            <a:r>
              <a:rPr lang="zh-CN" altLang="en-US" dirty="0"/>
              <a:t>红框：以</a:t>
            </a:r>
            <a:r>
              <a:rPr lang="en-US" altLang="zh-CN" dirty="0"/>
              <a:t>N</a:t>
            </a:r>
            <a:r>
              <a:rPr lang="zh-CN" altLang="en-US" dirty="0"/>
              <a:t>为对象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71E8065-455D-E876-948C-14A38A5DD1DC}"/>
              </a:ext>
            </a:extLst>
          </p:cNvPr>
          <p:cNvSpPr/>
          <p:nvPr/>
        </p:nvSpPr>
        <p:spPr>
          <a:xfrm>
            <a:off x="4405086" y="667453"/>
            <a:ext cx="2322286" cy="397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此处有个小问题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1DF1C0D-5FE7-80F0-7916-97D6E3853252}"/>
              </a:ext>
            </a:extLst>
          </p:cNvPr>
          <p:cNvSpPr txBox="1"/>
          <p:nvPr/>
        </p:nvSpPr>
        <p:spPr>
          <a:xfrm>
            <a:off x="4506686" y="1302162"/>
            <a:ext cx="5551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首先，</a:t>
            </a:r>
            <a:r>
              <a:rPr lang="en-US" altLang="zh-CN" dirty="0"/>
              <a:t>P</a:t>
            </a:r>
            <a:r>
              <a:rPr lang="zh-CN" altLang="en-US" dirty="0"/>
              <a:t>会先对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点进行检验。</a:t>
            </a:r>
            <a:endParaRPr lang="en-US" altLang="zh-CN" dirty="0"/>
          </a:p>
          <a:p>
            <a:r>
              <a:rPr lang="zh-CN" altLang="en-US" dirty="0"/>
              <a:t>  然后，开始以</a:t>
            </a:r>
            <a:r>
              <a:rPr lang="en-US" altLang="zh-CN" dirty="0"/>
              <a:t>N</a:t>
            </a:r>
            <a:r>
              <a:rPr lang="zh-CN" altLang="en-US" dirty="0"/>
              <a:t>点为对象检查。可以留意到，</a:t>
            </a:r>
            <a:r>
              <a:rPr lang="en-US" altLang="zh-CN" dirty="0"/>
              <a:t>N</a:t>
            </a:r>
            <a:r>
              <a:rPr lang="zh-CN" altLang="en-US" dirty="0"/>
              <a:t>点的框把</a:t>
            </a:r>
            <a:r>
              <a:rPr lang="en-US" altLang="zh-CN" dirty="0"/>
              <a:t>P</a:t>
            </a:r>
            <a:r>
              <a:rPr lang="zh-CN" altLang="en-US" dirty="0"/>
              <a:t>也包含进去了。</a:t>
            </a:r>
            <a:endParaRPr lang="en-US" altLang="zh-CN" dirty="0"/>
          </a:p>
          <a:p>
            <a:r>
              <a:rPr lang="zh-CN" altLang="en-US" dirty="0"/>
              <a:t>  这样就导致，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/>
              <a:t>这对点，检查了两次，出现了冗余的运算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8822C0C-B6F9-4D68-CB45-22D75D50786B}"/>
              </a:ext>
            </a:extLst>
          </p:cNvPr>
          <p:cNvGrpSpPr/>
          <p:nvPr/>
        </p:nvGrpSpPr>
        <p:grpSpPr>
          <a:xfrm>
            <a:off x="4286040" y="3074853"/>
            <a:ext cx="3343596" cy="3280221"/>
            <a:chOff x="487616" y="1277189"/>
            <a:chExt cx="3343596" cy="3280221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BFF539C-163D-A593-0B0F-1095B362C58F}"/>
                </a:ext>
              </a:extLst>
            </p:cNvPr>
            <p:cNvSpPr/>
            <p:nvPr/>
          </p:nvSpPr>
          <p:spPr>
            <a:xfrm>
              <a:off x="2311614" y="18892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E4CD24A-26E7-EDF5-3FE9-C72439445860}"/>
                </a:ext>
              </a:extLst>
            </p:cNvPr>
            <p:cNvSpPr/>
            <p:nvPr/>
          </p:nvSpPr>
          <p:spPr>
            <a:xfrm>
              <a:off x="2792787" y="31051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860AE8F-0EFC-A29B-10AC-C94D8D94AF09}"/>
                </a:ext>
              </a:extLst>
            </p:cNvPr>
            <p:cNvSpPr/>
            <p:nvPr/>
          </p:nvSpPr>
          <p:spPr>
            <a:xfrm>
              <a:off x="2883673" y="21546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7880E032-C878-763B-B1C2-AAD230A33830}"/>
                </a:ext>
              </a:extLst>
            </p:cNvPr>
            <p:cNvSpPr/>
            <p:nvPr/>
          </p:nvSpPr>
          <p:spPr>
            <a:xfrm>
              <a:off x="2236054" y="272014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0C703D4-18FB-86F6-2AAA-D4230B4ECBB7}"/>
                </a:ext>
              </a:extLst>
            </p:cNvPr>
            <p:cNvSpPr/>
            <p:nvPr/>
          </p:nvSpPr>
          <p:spPr>
            <a:xfrm>
              <a:off x="2439680" y="386068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2478F30-9273-D2EA-77ED-966DCE2F619B}"/>
                </a:ext>
              </a:extLst>
            </p:cNvPr>
            <p:cNvSpPr/>
            <p:nvPr/>
          </p:nvSpPr>
          <p:spPr>
            <a:xfrm>
              <a:off x="487616" y="331382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358F0C9-E05F-E8C2-1044-D87A44A74FA0}"/>
                </a:ext>
              </a:extLst>
            </p:cNvPr>
            <p:cNvSpPr/>
            <p:nvPr/>
          </p:nvSpPr>
          <p:spPr>
            <a:xfrm>
              <a:off x="1415143" y="3585940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47C34FD-0E02-57F0-7DAE-6D7FBE509689}"/>
                </a:ext>
              </a:extLst>
            </p:cNvPr>
            <p:cNvSpPr/>
            <p:nvPr/>
          </p:nvSpPr>
          <p:spPr>
            <a:xfrm>
              <a:off x="1146203" y="321392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10D4AB11-6EC5-7ACF-23B4-5919311B53DD}"/>
                </a:ext>
              </a:extLst>
            </p:cNvPr>
            <p:cNvSpPr/>
            <p:nvPr/>
          </p:nvSpPr>
          <p:spPr>
            <a:xfrm>
              <a:off x="972390" y="382096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05FD717B-3C24-9427-142B-17A925397300}"/>
                </a:ext>
              </a:extLst>
            </p:cNvPr>
            <p:cNvSpPr/>
            <p:nvPr/>
          </p:nvSpPr>
          <p:spPr>
            <a:xfrm>
              <a:off x="1437556" y="437699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A8C023DA-223E-A736-0B23-A76F71A626C6}"/>
                </a:ext>
              </a:extLst>
            </p:cNvPr>
            <p:cNvSpPr/>
            <p:nvPr/>
          </p:nvSpPr>
          <p:spPr>
            <a:xfrm>
              <a:off x="781410" y="20137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CEEAC6AB-8AC4-0005-7AE9-91273A42DC3D}"/>
                </a:ext>
              </a:extLst>
            </p:cNvPr>
            <p:cNvSpPr/>
            <p:nvPr/>
          </p:nvSpPr>
          <p:spPr>
            <a:xfrm>
              <a:off x="1706497" y="2471115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BD496534-4481-EDA5-99E9-3C475373C644}"/>
                </a:ext>
              </a:extLst>
            </p:cNvPr>
            <p:cNvSpPr/>
            <p:nvPr/>
          </p:nvSpPr>
          <p:spPr>
            <a:xfrm>
              <a:off x="1479297" y="174939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1E62F03C-7640-9227-85CB-B57697F29614}"/>
                </a:ext>
              </a:extLst>
            </p:cNvPr>
            <p:cNvSpPr/>
            <p:nvPr/>
          </p:nvSpPr>
          <p:spPr>
            <a:xfrm>
              <a:off x="781410" y="255530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79AA2C0-EA27-1FC0-2961-6EF454F16495}"/>
                </a:ext>
              </a:extLst>
            </p:cNvPr>
            <p:cNvSpPr/>
            <p:nvPr/>
          </p:nvSpPr>
          <p:spPr>
            <a:xfrm>
              <a:off x="1232809" y="2571007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E8E52B5-26DE-1004-3B06-F01FC6CE9564}"/>
                </a:ext>
              </a:extLst>
            </p:cNvPr>
            <p:cNvSpPr/>
            <p:nvPr/>
          </p:nvSpPr>
          <p:spPr>
            <a:xfrm>
              <a:off x="3677453" y="2709439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852CD495-F8CB-76E8-37D7-1E0CCE5F2A4C}"/>
                </a:ext>
              </a:extLst>
            </p:cNvPr>
            <p:cNvSpPr/>
            <p:nvPr/>
          </p:nvSpPr>
          <p:spPr>
            <a:xfrm>
              <a:off x="3754372" y="3361204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C58ACA8E-1074-B712-482F-7EB56E20E899}"/>
                </a:ext>
              </a:extLst>
            </p:cNvPr>
            <p:cNvSpPr/>
            <p:nvPr/>
          </p:nvSpPr>
          <p:spPr>
            <a:xfrm>
              <a:off x="2715947" y="4457518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36ACEAF-569A-75FF-C0DE-D82A43D63A9D}"/>
                </a:ext>
              </a:extLst>
            </p:cNvPr>
            <p:cNvSpPr/>
            <p:nvPr/>
          </p:nvSpPr>
          <p:spPr>
            <a:xfrm>
              <a:off x="2184008" y="4357626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B5853299-05E0-6655-1AAA-631DD96E3C20}"/>
                </a:ext>
              </a:extLst>
            </p:cNvPr>
            <p:cNvSpPr/>
            <p:nvPr/>
          </p:nvSpPr>
          <p:spPr>
            <a:xfrm>
              <a:off x="3153016" y="4211491"/>
              <a:ext cx="76840" cy="99892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6CAD8D4-F852-A48A-43F6-27914D86DCA6}"/>
                </a:ext>
              </a:extLst>
            </p:cNvPr>
            <p:cNvSpPr txBox="1"/>
            <p:nvPr/>
          </p:nvSpPr>
          <p:spPr>
            <a:xfrm>
              <a:off x="1529123" y="2302117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P</a:t>
              </a:r>
              <a:endParaRPr lang="zh-CN" altLang="en-US" sz="1200" b="1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08439B36-738E-B9E5-8D25-6E50191BA69A}"/>
                </a:ext>
              </a:extLst>
            </p:cNvPr>
            <p:cNvSpPr txBox="1"/>
            <p:nvPr/>
          </p:nvSpPr>
          <p:spPr>
            <a:xfrm>
              <a:off x="2336963" y="173679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S</a:t>
              </a:r>
              <a:endParaRPr lang="zh-CN" altLang="en-US" sz="1200" b="1" dirty="0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73D7CA51-3A19-8C36-FD91-A33F38F1F46E}"/>
                </a:ext>
              </a:extLst>
            </p:cNvPr>
            <p:cNvSpPr txBox="1"/>
            <p:nvPr/>
          </p:nvSpPr>
          <p:spPr>
            <a:xfrm>
              <a:off x="1998204" y="2532332"/>
              <a:ext cx="2626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N</a:t>
              </a:r>
              <a:endParaRPr lang="zh-CN" altLang="en-US" sz="1200" b="1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4F1ACAF-05B3-1AC7-E951-833ADE6AF21A}"/>
                </a:ext>
              </a:extLst>
            </p:cNvPr>
            <p:cNvSpPr txBox="1"/>
            <p:nvPr/>
          </p:nvSpPr>
          <p:spPr>
            <a:xfrm>
              <a:off x="726928" y="1302162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L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E351720-5B06-1F9B-F43D-11B808FEF063}"/>
                </a:ext>
              </a:extLst>
            </p:cNvPr>
            <p:cNvSpPr txBox="1"/>
            <p:nvPr/>
          </p:nvSpPr>
          <p:spPr>
            <a:xfrm>
              <a:off x="3153016" y="1277189"/>
              <a:ext cx="2626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accent5">
                      <a:lumMod val="50000"/>
                    </a:schemeClr>
                  </a:solidFill>
                </a:rPr>
                <a:t>R</a:t>
              </a:r>
              <a:endParaRPr lang="zh-CN" altLang="en-US" sz="32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FB9BB192-505F-AC4A-269E-879AAAD98EEC}"/>
              </a:ext>
            </a:extLst>
          </p:cNvPr>
          <p:cNvCxnSpPr/>
          <p:nvPr/>
        </p:nvCxnSpPr>
        <p:spPr>
          <a:xfrm>
            <a:off x="5799616" y="3361204"/>
            <a:ext cx="0" cy="3065929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0E456F23-F8E7-F42B-6B67-F94E118DB845}"/>
              </a:ext>
            </a:extLst>
          </p:cNvPr>
          <p:cNvSpPr/>
          <p:nvPr/>
        </p:nvSpPr>
        <p:spPr>
          <a:xfrm>
            <a:off x="4212314" y="2997597"/>
            <a:ext cx="3431272" cy="367131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4410CEE-0098-DA7D-4F79-766E5CC0E3A2}"/>
              </a:ext>
            </a:extLst>
          </p:cNvPr>
          <p:cNvSpPr txBox="1"/>
          <p:nvPr/>
        </p:nvSpPr>
        <p:spPr>
          <a:xfrm>
            <a:off x="5208045" y="3263874"/>
            <a:ext cx="262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G</a:t>
            </a:r>
            <a:endParaRPr lang="zh-CN" altLang="en-US" sz="1200" b="1" dirty="0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3376EF8-B160-7AB9-2F30-B1E2FD441888}"/>
              </a:ext>
            </a:extLst>
          </p:cNvPr>
          <p:cNvSpPr/>
          <p:nvPr/>
        </p:nvSpPr>
        <p:spPr>
          <a:xfrm>
            <a:off x="5312820" y="3571274"/>
            <a:ext cx="731772" cy="693407"/>
          </a:xfrm>
          <a:prstGeom prst="rect">
            <a:avLst/>
          </a:prstGeom>
          <a:noFill/>
          <a:ln w="2222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1F8CC99-607A-D0A1-55B7-F09A9F1743CA}"/>
              </a:ext>
            </a:extLst>
          </p:cNvPr>
          <p:cNvSpPr txBox="1"/>
          <p:nvPr/>
        </p:nvSpPr>
        <p:spPr>
          <a:xfrm>
            <a:off x="7847199" y="3263874"/>
            <a:ext cx="27715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因此我们可以进一步优化，将长方形检索框改为边长为</a:t>
            </a:r>
            <a:r>
              <a:rPr lang="en-US" altLang="zh-CN" dirty="0"/>
              <a:t>D</a:t>
            </a:r>
            <a:r>
              <a:rPr lang="zh-CN" altLang="en-US" dirty="0"/>
              <a:t>的检索框，从最上面的点开始向下搜寻。这样可以做到“不回头“，不浪费算力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66C0672-A887-0423-0555-058194CB7A64}"/>
              </a:ext>
            </a:extLst>
          </p:cNvPr>
          <p:cNvSpPr/>
          <p:nvPr/>
        </p:nvSpPr>
        <p:spPr>
          <a:xfrm>
            <a:off x="5421935" y="3730496"/>
            <a:ext cx="731772" cy="693407"/>
          </a:xfrm>
          <a:prstGeom prst="rect">
            <a:avLst/>
          </a:prstGeom>
          <a:noFill/>
          <a:ln w="22225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284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Microsoft YaHei UI"/>
        <a:ea typeface=""/>
        <a:cs typeface="Microsoft YaHei UI"/>
      </a:majorFont>
      <a:minorFont>
        <a:latin typeface="Microsoft YaHei UI"/>
        <a:ea typeface=""/>
        <a:cs typeface="Microsoft YaHei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460_TF67338807_Win32.potx" id="{0142AE30-8654-47BF-981C-AC9505F251C0}" vid="{08A42EC2-C0A3-4D9A-B3C9-5C9BC8509C8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偏移设计</Template>
  <TotalTime>2706</TotalTime>
  <Words>893</Words>
  <Application>Microsoft Office PowerPoint</Application>
  <PresentationFormat>宽屏</PresentationFormat>
  <Paragraphs>179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Microsoft YaHei UI</vt:lpstr>
      <vt:lpstr>Arial</vt:lpstr>
      <vt:lpstr>Cambria Math</vt:lpstr>
      <vt:lpstr>Times New Roman</vt:lpstr>
      <vt:lpstr>Wingdings 2</vt:lpstr>
      <vt:lpstr>OffsetVTI</vt:lpstr>
      <vt:lpstr>实验二 分治法：最近点对问题 </vt:lpstr>
      <vt:lpstr>分治法原理</vt:lpstr>
      <vt:lpstr>鸽笼原理---为什么我们只用检查6个点</vt:lpstr>
      <vt:lpstr>分治法时间复杂度</vt:lpstr>
      <vt:lpstr>分治法实验结果</vt:lpstr>
      <vt:lpstr>蛮力法实验结果</vt:lpstr>
      <vt:lpstr>蛮力法与分治法实验结果对比</vt:lpstr>
      <vt:lpstr>优化---蛮力法与分治法的阈值</vt:lpstr>
      <vt:lpstr>分治法小优化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 汉</dc:creator>
  <cp:lastModifiedBy>雨 汉</cp:lastModifiedBy>
  <cp:revision>8</cp:revision>
  <dcterms:created xsi:type="dcterms:W3CDTF">2026-04-23T12:15:53Z</dcterms:created>
  <dcterms:modified xsi:type="dcterms:W3CDTF">2026-04-25T09:22:34Z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